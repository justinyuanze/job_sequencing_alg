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1" r:id="rId6"/>
    <p:sldId id="262" r:id="rId7"/>
    <p:sldId id="268" r:id="rId8"/>
    <p:sldId id="269" r:id="rId9"/>
    <p:sldId id="270" r:id="rId10"/>
    <p:sldId id="271" r:id="rId11"/>
    <p:sldId id="267" r:id="rId1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897" autoAdjust="0"/>
  </p:normalViewPr>
  <p:slideViewPr>
    <p:cSldViewPr snapToGrid="0">
      <p:cViewPr varScale="1">
        <p:scale>
          <a:sx n="73" d="100"/>
          <a:sy n="73" d="100"/>
        </p:scale>
        <p:origin x="10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FB234F-C254-4838-88D6-FBC80F481C09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8C62D-D98D-413D-AF02-0CC3FE8A68F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3397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" dirty="0"/>
              <a:t>latestSlot ← min(n, job.deadline) – 1 #This finds the latest possible slot where the job can be placed.</a:t>
            </a:r>
          </a:p>
          <a:p>
            <a:r>
              <a:rPr lang="" dirty="0"/>
              <a:t>Why substract 1?</a:t>
            </a:r>
          </a:p>
          <a:p>
            <a:r>
              <a:rPr lang="" dirty="0"/>
              <a:t>Because arrays start from index 0</a:t>
            </a:r>
          </a:p>
          <a:p>
            <a:endParaRPr lang="" dirty="0"/>
          </a:p>
          <a:p>
            <a:r>
              <a:rPr lang="" dirty="0"/>
              <a:t>The algorithm searches backward from the latest possible slot.</a:t>
            </a:r>
          </a:p>
          <a:p>
            <a:r>
              <a:rPr lang="" dirty="0"/>
              <a:t>Why backward?</a:t>
            </a:r>
          </a:p>
          <a:p>
            <a:r>
              <a:rPr lang="" dirty="0"/>
              <a:t>Because we want to place the job as late as possible, leaving earlier slots open for jobs with earlier deadlines.</a:t>
            </a:r>
          </a:p>
          <a:p>
            <a:endParaRPr lang="" dirty="0"/>
          </a:p>
          <a:p>
            <a:r>
              <a:rPr lang="" dirty="0"/>
              <a:t>At the end, the algorithm returns: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number of jobs scheduled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total profit earned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8C62D-D98D-413D-AF02-0CC3FE8A68FF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60507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8C62D-D98D-413D-AF02-0CC3FE8A68FF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6212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83335-6E4D-5A54-3FCB-AD61ED198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8E2381-3B7D-3A55-13F1-3DBC1E795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FE6C93-44D9-AFAD-E288-402217AF9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5C407-E493-6533-D635-E7126A229D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8C62D-D98D-413D-AF02-0CC3FE8A68FF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42390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9D347-75FA-82CC-3A75-4F2E5452A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8B1781-B6BE-028B-B77D-1553D6497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FAC085-BD2F-EFA1-C86F-04135BFEF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C670A-ABB6-1758-7BCE-41E627736B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8C62D-D98D-413D-AF02-0CC3FE8A68FF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2392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D81D4-0BBD-CB54-AE5F-AFB81E53E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606446-60F8-AAF5-BE3C-2B0911D2C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F51F6-01F4-1073-96FB-227967710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09F3F-8F47-E423-6DD8-FC7D65DC7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8C62D-D98D-413D-AF02-0CC3FE8A68FF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89616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07FD7-9B0A-A006-C41B-9A8ED2ED8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7ACA6F-D140-B821-E7B2-95D5173A1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C2432E-342F-0600-2E15-81F44CB9D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13BA8-94C7-9597-D5EA-78B95E805A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8C62D-D98D-413D-AF02-0CC3FE8A68FF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5732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81440-BB58-7031-9325-87B4390B5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CE23D-9D84-EC94-6CFF-EFE1BF23E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4E73A-CAE4-B9F6-C73D-C2B89A75F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9BB0-E714-88AC-9D5B-105FCA2F8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D84A2-057C-FD11-6591-4FC70C96D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2940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71CE2-AB92-28DF-CA63-9FC84EE48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690D9-DB27-D29F-A4AA-56700F7FE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8C533-DF36-08BB-BAAF-ADDBB680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3D3FF-4784-F662-74B9-A049B197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CB1C9-653F-6CEF-C03C-17B30296A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79916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94EF-E852-B7AA-4074-BF8B5A51D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02814-DFC9-3546-F99D-11878C501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008EC-E7C4-9F45-0EC9-FF66274BE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F4D0A-FB7A-601E-8C22-08F10CE46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0EEC7-7372-0F16-8E4F-2775171AF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4318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F08E7-E4EE-F6B2-1A2A-397170F0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AA166-088C-36AF-27F1-D69FBBC767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7F6D7-CF36-FE53-C014-3DAB0834C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ABD56-7748-1EF2-3C47-5E1692D62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92AFD-69C9-DE4D-8179-A80043DCA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8CBAD-87F1-EBB3-9CFD-EFA92F27D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66339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CF35F-61AA-B9A4-0000-4F811E639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674DE-3C1C-5B25-D952-2500B2D54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35B04-69AF-0F1E-9AD3-B29A666CE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99628-00DB-ED05-743A-A6072F38C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547089-4BF3-FFA8-39C3-67C11E2090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58CD37-7825-E420-4414-6EC128E3F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0C10C5-D47C-AA63-D4EB-82A890F3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F93CCA-C33A-2C34-5718-10B0FC98C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679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256B7-B9AD-E00F-3C68-095BFAB64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D9AB4-9F03-A357-0790-BAFAB2868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0823D-D8E3-961A-228F-B26E39100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7660A-43F7-92FB-FA97-0CE2A70D5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48184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7A764A-0261-D52A-EE5C-C7CC170CE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96AA5A-D960-026C-897C-39177573B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0677F-F535-4B92-7F33-D70DCC2B5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9570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6735B-1532-7BA2-A1C1-908C8E211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8877D-5F09-1E70-D835-2FE98853C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057AB-4BD2-36A3-5995-5A0301CA7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1F175-1685-AF2D-DE1E-6BB9686E1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92F66-411D-9DAD-511A-CC1A4BF23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6850D-BBCA-F380-D5CE-EE69856F7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40005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AE5A2-918B-27D0-AB8C-FF7712472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BA7EF0-91FC-8157-06CE-E67FCA984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31F2D-050B-E67F-F642-BAA53A985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8DF81-A398-997A-B8CA-113FA81C1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59241-DA1D-EFF4-F53C-981746427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391BA-8C3F-EFCC-1851-FEDED9711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6455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A26AE-50A0-45E0-ECBE-DF4D619CD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1BB946-A776-F51A-5C2B-40C6BBE04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E7250-9083-830A-06FE-5121AEC83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9C878-D3F2-3885-D5F7-2412227A4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B54FB-17E8-60CB-C9E7-6A90CAEE4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43404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FAFE88-3D80-4EF0-B9BC-1CCFB2C3CE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22400-64C4-ED04-99E9-4C6115AE6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05199-DB16-5954-A3D1-EB4056850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EDA63-88A4-511B-6A89-FA00DE350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24869-EC64-758F-000F-71931BF29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2747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DC44E8-4503-F36C-A3EE-2459A220D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19958-2EB3-69C7-8092-3E60328EA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D5CB2-E4B5-8AC9-8C1A-A1FF992AC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E0FCB-7CE6-0077-D3B9-D49282495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B9D3C-3586-7DA1-FA42-7C56F56EA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03646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2725D-FFDD-D0C4-1843-F4E4C0071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982" y="252858"/>
            <a:ext cx="9144000" cy="583256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sequencing using DSU Algorithm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E0CE3B-5483-55FF-A0C2-D6704EFED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982" y="1134452"/>
            <a:ext cx="9229299" cy="134266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best jobs to do before their deadlines so that we earn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profit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ct val="100000"/>
              </a:lnSpc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Job has:</a:t>
            </a:r>
            <a:endParaRPr lang="LID4096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DEBCFA-953B-052E-E02A-53C246F8A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041313"/>
              </p:ext>
            </p:extLst>
          </p:nvPr>
        </p:nvGraphicFramePr>
        <p:xfrm>
          <a:off x="912321" y="2168677"/>
          <a:ext cx="6704215" cy="31537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86325">
                  <a:extLst>
                    <a:ext uri="{9D8B030D-6E8A-4147-A177-3AD203B41FA5}">
                      <a16:colId xmlns:a16="http://schemas.microsoft.com/office/drawing/2014/main" val="994747369"/>
                    </a:ext>
                  </a:extLst>
                </a:gridCol>
                <a:gridCol w="5117890">
                  <a:extLst>
                    <a:ext uri="{9D8B030D-6E8A-4147-A177-3AD203B41FA5}">
                      <a16:colId xmlns:a16="http://schemas.microsoft.com/office/drawing/2014/main" val="1570146255"/>
                    </a:ext>
                  </a:extLst>
                </a:gridCol>
              </a:tblGrid>
              <a:tr h="63074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Term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3474729"/>
                  </a:ext>
                </a:extLst>
              </a:tr>
              <a:tr h="63074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last time slot where the job can be completed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299583"/>
                  </a:ext>
                </a:extLst>
              </a:tr>
              <a:tr h="63074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Profited </a:t>
                      </a:r>
                      <a:endParaRPr lang="LID4096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reward earned if the job is completed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024429"/>
                  </a:ext>
                </a:extLst>
              </a:tr>
              <a:tr h="63074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Slot</a:t>
                      </a:r>
                      <a:endParaRPr lang="LID4096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time position where one job can be placed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17660"/>
                  </a:ext>
                </a:extLst>
              </a:tr>
              <a:tr h="63074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DSU</a:t>
                      </a:r>
                      <a:endParaRPr lang="LID4096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data structure used to quickly find the latest available slot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128420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E7DE7457-758F-CD2F-242A-F31B34CAE85F}"/>
              </a:ext>
            </a:extLst>
          </p:cNvPr>
          <p:cNvGrpSpPr/>
          <p:nvPr/>
        </p:nvGrpSpPr>
        <p:grpSpPr>
          <a:xfrm>
            <a:off x="7966365" y="2168677"/>
            <a:ext cx="3313314" cy="2331720"/>
            <a:chOff x="7966365" y="2168677"/>
            <a:chExt cx="3313314" cy="2331720"/>
          </a:xfrm>
          <a:solidFill>
            <a:srgbClr val="FFFF00"/>
          </a:solidFill>
        </p:grpSpPr>
        <p:sp>
          <p:nvSpPr>
            <p:cNvPr id="9" name="Shape 23">
              <a:extLst>
                <a:ext uri="{FF2B5EF4-FFF2-40B4-BE49-F238E27FC236}">
                  <a16:creationId xmlns:a16="http://schemas.microsoft.com/office/drawing/2014/main" id="{80DBCED3-F0E5-A2C9-277F-A8F5D341F44D}"/>
                </a:ext>
              </a:extLst>
            </p:cNvPr>
            <p:cNvSpPr/>
            <p:nvPr/>
          </p:nvSpPr>
          <p:spPr>
            <a:xfrm>
              <a:off x="7966365" y="2168677"/>
              <a:ext cx="3313314" cy="2331720"/>
            </a:xfrm>
            <a:prstGeom prst="roundRect">
              <a:avLst>
                <a:gd name="adj" fmla="val 6239"/>
              </a:avLst>
            </a:prstGeom>
            <a:noFill/>
            <a:ln w="3175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txBody>
            <a:bodyPr/>
            <a:lstStyle/>
            <a:p>
              <a:endParaRPr lang="LID4096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24">
              <a:extLst>
                <a:ext uri="{FF2B5EF4-FFF2-40B4-BE49-F238E27FC236}">
                  <a16:creationId xmlns:a16="http://schemas.microsoft.com/office/drawing/2014/main" id="{3DC14902-F72F-A8A8-F4FF-C555AADFC386}"/>
                </a:ext>
              </a:extLst>
            </p:cNvPr>
            <p:cNvSpPr/>
            <p:nvPr/>
          </p:nvSpPr>
          <p:spPr>
            <a:xfrm>
              <a:off x="8121881" y="2562145"/>
              <a:ext cx="3108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Rule to remember</a:t>
              </a:r>
              <a:endPara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 25">
              <a:extLst>
                <a:ext uri="{FF2B5EF4-FFF2-40B4-BE49-F238E27FC236}">
                  <a16:creationId xmlns:a16="http://schemas.microsoft.com/office/drawing/2014/main" id="{6FC8F9FB-C9B2-2230-AECD-A0CB9B1980A7}"/>
                </a:ext>
              </a:extLst>
            </p:cNvPr>
            <p:cNvSpPr/>
            <p:nvPr/>
          </p:nvSpPr>
          <p:spPr>
            <a:xfrm>
              <a:off x="8221287" y="3014009"/>
              <a:ext cx="2803469" cy="731520"/>
            </a:xfrm>
            <a:prstGeom prst="rect">
              <a:avLst/>
            </a:prstGeom>
            <a:noFill/>
            <a:ln/>
          </p:spPr>
          <p:txBody>
            <a:bodyPr wrap="square" lIns="635" tIns="635" rIns="635" bIns="635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Each job takes 1 unit of time, and only one job can be done in one time slot.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0318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0E6B2-1923-9487-312E-20F31BE1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925"/>
            <a:ext cx="10515600" cy="553630"/>
          </a:xfrm>
          <a:noFill/>
          <a:ln>
            <a:noFill/>
          </a:ln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Idea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50402-D442-1D2B-7E8E-C151EBE34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4771"/>
            <a:ext cx="10515600" cy="304354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algorithm also uses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strategy: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does this: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jobs by highest profit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 the most profitable job first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latest available slot before its deadline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slot is available, schedule the job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 that slot as occupied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for all jobs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81663C4-E603-0494-5F4E-BB8207D519A9}"/>
              </a:ext>
            </a:extLst>
          </p:cNvPr>
          <p:cNvGrpSpPr/>
          <p:nvPr/>
        </p:nvGrpSpPr>
        <p:grpSpPr>
          <a:xfrm>
            <a:off x="1746932" y="5083629"/>
            <a:ext cx="9229299" cy="672363"/>
            <a:chOff x="1524000" y="5261812"/>
            <a:chExt cx="9144000" cy="672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244831C-B2D4-F34D-96E3-390FD4068D0A}"/>
                </a:ext>
              </a:extLst>
            </p:cNvPr>
            <p:cNvSpPr/>
            <p:nvPr/>
          </p:nvSpPr>
          <p:spPr>
            <a:xfrm>
              <a:off x="1524000" y="5261812"/>
              <a:ext cx="106680" cy="609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2000" dirty="0"/>
            </a:p>
          </p:txBody>
        </p:sp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25973E80-F9C3-C97A-96E7-0B28A4F24CF6}"/>
                </a:ext>
              </a:extLst>
            </p:cNvPr>
            <p:cNvSpPr txBox="1">
              <a:spLocks/>
            </p:cNvSpPr>
            <p:nvPr/>
          </p:nvSpPr>
          <p:spPr>
            <a:xfrm>
              <a:off x="1524000" y="5261812"/>
              <a:ext cx="9144000" cy="67236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 algn="l">
                <a:lnSpc>
                  <a:spcPct val="150000"/>
                </a:lnSpc>
              </a:pPr>
              <a:r>
                <a:rPr lang="en-US" sz="1800" b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 idea: </a:t>
              </a:r>
              <a:r>
                <a:rPr lang="en-US" sz="1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DSU remembers the next possible free slot after a slot has been used.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3319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95E4C-818E-3E7B-B1F3-1692EEF00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880"/>
            <a:ext cx="10515600" cy="70779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Specification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EE124-A891-89D3-7560-4ED312639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7726"/>
            <a:ext cx="10515600" cy="4485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25D020-53A6-9F77-1E76-740B812D907C}"/>
              </a:ext>
            </a:extLst>
          </p:cNvPr>
          <p:cNvSpPr txBox="1"/>
          <p:nvPr/>
        </p:nvSpPr>
        <p:spPr>
          <a:xfrm>
            <a:off x="838200" y="1296308"/>
            <a:ext cx="5257800" cy="452431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#1: Initialize the basic values</a:t>
            </a:r>
          </a:p>
          <a:p>
            <a:r>
              <a:rPr lang="en-US" sz="16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total number of jobs. Set scheduled jobs and total profit to zero.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#2: Create a list of jobs</a:t>
            </a:r>
          </a:p>
          <a:p>
            <a:r>
              <a:rPr lang="en-US" sz="16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job, combine profit and deadline into one pair.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#3: Sort jobs by profit</a:t>
            </a:r>
          </a:p>
          <a:p>
            <a:r>
              <a:rPr lang="en-US" sz="16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 all jobs in descending order so the most profitable job is considered first.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#4: Create DSU parent array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slots from 0 to the maximum deadline. At first, every slot points to itself.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#5: Select jobs one by one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the highest-profit job.</a:t>
            </a:r>
          </a:p>
          <a:p>
            <a:endParaRPr lang="LID4096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4ACB09-85EE-B076-F303-AD483FA0D461}"/>
              </a:ext>
            </a:extLst>
          </p:cNvPr>
          <p:cNvSpPr txBox="1"/>
          <p:nvPr/>
        </p:nvSpPr>
        <p:spPr>
          <a:xfrm>
            <a:off x="6587836" y="1296308"/>
            <a:ext cx="4765964" cy="3785652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#6: Find an available slot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FIND(deadline) to get the latest free slot before or on the deadline.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#7: Schedule and update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slot is greater than 0, schedule the job and add its profit.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#8: Mark slot as occupied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the used slot to the next possible earlier slot.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#9: Return final answer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total scheduled jobs and total profit earned.</a:t>
            </a:r>
          </a:p>
          <a:p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LID4096" sz="1600" dirty="0"/>
          </a:p>
        </p:txBody>
      </p:sp>
    </p:spTree>
    <p:extLst>
      <p:ext uri="{BB962C8B-B14F-4D97-AF65-F5344CB8AC3E}">
        <p14:creationId xmlns:p14="http://schemas.microsoft.com/office/powerpoint/2010/main" val="2367733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AB91E-F356-795A-B11C-FAC6FEA22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4C939-AEA4-0C04-CA8F-94CE228A4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098"/>
            <a:ext cx="6455229" cy="70779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 Notation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4CD443-D4C9-97EF-BB9B-FCEDCF408B85}"/>
              </a:ext>
            </a:extLst>
          </p:cNvPr>
          <p:cNvSpPr txBox="1"/>
          <p:nvPr/>
        </p:nvSpPr>
        <p:spPr>
          <a:xfrm>
            <a:off x="838200" y="904896"/>
            <a:ext cx="10515600" cy="5632311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← length(deadline) </a:t>
            </a:r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▶Get the total number of jobs from deadline array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countJobs ← 0 </a:t>
            </a:r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Start with zero scheduled jobs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totalProfit ← 0 </a:t>
            </a:r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▶Start with zero total profit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 ← empty list </a:t>
            </a:r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▶Create an empty list to store each job together with its profit and deadline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 ← 0 to n - 1 do </a:t>
            </a:r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Loop through all jobs from the first job to the last job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jobs.add((profit[i], deadline[i])) </a:t>
            </a:r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Store each job as a pair: profit and deadline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jobs in descending order by profit </a:t>
            </a:r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Sort jobs from highest profit to lowest profit so we can choose the most valuable jobs first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maxDeadline ← maximum value in deadline </a:t>
            </a:r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Find the largest deadline because this tells use how many time slots we need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 ← array of size maxDeadline + 1 </a:t>
            </a:r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Create the DSU parent array. We use maxDeadline + 1 because we include slot 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 ← 0 to maxDeadline do </a:t>
            </a:r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Loop through all slots from 0 up to the maximum deadline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parent[i] ← I </a:t>
            </a:r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At the beginning, every slot points to itself, meaning every slot available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job in jobs do  </a:t>
            </a:r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</a:t>
            </a:r>
            <a:r>
              <a:rPr lang="en-US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each job one by one, starting from the job with the highest profit.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availableSlot ← FIND(parent, job.deadline) </a:t>
            </a:r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</a:t>
            </a:r>
            <a:r>
              <a:rPr lang="en-US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DSU to find the latest available slot before or on the job’s deadline.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if availableSlot &gt; 0 then </a:t>
            </a:r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</a:t>
            </a:r>
            <a:r>
              <a:rPr lang="en-US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available slot is greater than 0, it means we found a free slot.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parent[availableSlot] ← FIND(parent, availableSlot - 1) </a:t>
            </a:r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</a:t>
            </a:r>
            <a:r>
              <a:rPr lang="en-US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 this slot as occupied and connect it to the next possible earlier slot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countJobs ← countJobs + 1  </a:t>
            </a:r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I</a:t>
            </a:r>
            <a:r>
              <a:rPr lang="en-US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ncrease the number of scheduled jobs by 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totalProfit ← totalProfit + job.profit </a:t>
            </a:r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</a:t>
            </a:r>
            <a:r>
              <a:rPr lang="en-US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this job’s profit to the total profit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end if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countJobs, totalProfit </a:t>
            </a:r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Return</a:t>
            </a:r>
            <a:r>
              <a:rPr lang="en-US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total number of scheduled jobs and the total profit earned.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FIND(parent, slot) </a:t>
            </a:r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</a:t>
            </a:r>
            <a:r>
              <a:rPr lang="en-US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 finds the latest available slot using DSU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parent[slot] = slot then </a:t>
            </a:r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</a:t>
            </a:r>
            <a:r>
              <a:rPr lang="en-US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slot points to itself, then this slot is available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slot </a:t>
            </a:r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</a:t>
            </a:r>
            <a:r>
              <a:rPr lang="en-US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this slot because it is the latest available free slot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parent[slot] ← FIND(parent, parent[slot])</a:t>
            </a:r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▶</a:t>
            </a:r>
            <a:r>
              <a:rPr lang="en-US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slot is not directly available, keep searching for the next available slot</a:t>
            </a:r>
            <a:endParaRPr lang="" sz="12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▶ </a:t>
            </a:r>
            <a:r>
              <a:rPr lang="en-US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 update parent[slot] to make future searches faster. This is called path compression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parent[slot] </a:t>
            </a:r>
            <a:r>
              <a:rPr lang="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</a:t>
            </a:r>
            <a:r>
              <a:rPr lang="en-US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the latest available slot found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824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99EEB-3829-8A1D-C47E-5D33143E5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9" y="358810"/>
            <a:ext cx="8582024" cy="52070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#1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26ABB-6806-D815-8268-E8BF8A93A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9" y="1178421"/>
            <a:ext cx="3581400" cy="24123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Jobs</a:t>
            </a:r>
            <a:endParaRPr lang="LID4096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2D7BA7-8693-2954-C7D9-F66347D5F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034905"/>
              </p:ext>
            </p:extLst>
          </p:nvPr>
        </p:nvGraphicFramePr>
        <p:xfrm>
          <a:off x="876302" y="1487602"/>
          <a:ext cx="2930457" cy="2103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76819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976819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976819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605E57-4F90-EA54-09B5-1AAD204142B2}"/>
              </a:ext>
            </a:extLst>
          </p:cNvPr>
          <p:cNvSpPr txBox="1">
            <a:spLocks/>
          </p:cNvSpPr>
          <p:nvPr/>
        </p:nvSpPr>
        <p:spPr>
          <a:xfrm>
            <a:off x="4856361" y="1167357"/>
            <a:ext cx="5000626" cy="2543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#1: Sort by Profit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LID4096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B5B02C-DB37-9E0E-8A61-0BC119B24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928674"/>
              </p:ext>
            </p:extLst>
          </p:nvPr>
        </p:nvGraphicFramePr>
        <p:xfrm>
          <a:off x="4933538" y="1488323"/>
          <a:ext cx="3831312" cy="2103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57828">
                  <a:extLst>
                    <a:ext uri="{9D8B030D-6E8A-4147-A177-3AD203B41FA5}">
                      <a16:colId xmlns:a16="http://schemas.microsoft.com/office/drawing/2014/main" val="741510827"/>
                    </a:ext>
                  </a:extLst>
                </a:gridCol>
                <a:gridCol w="957828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957828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957828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23DD29A8-4F62-F77B-5627-F0C01ABA4DE2}"/>
              </a:ext>
            </a:extLst>
          </p:cNvPr>
          <p:cNvSpPr/>
          <p:nvPr/>
        </p:nvSpPr>
        <p:spPr>
          <a:xfrm>
            <a:off x="4011385" y="2078083"/>
            <a:ext cx="740229" cy="520700"/>
          </a:xfrm>
          <a:prstGeom prst="rightArrow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LID4096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CFAD87E-34F2-9F01-808B-FDE6D42EBFFA}"/>
              </a:ext>
            </a:extLst>
          </p:cNvPr>
          <p:cNvSpPr txBox="1">
            <a:spLocks/>
          </p:cNvSpPr>
          <p:nvPr/>
        </p:nvSpPr>
        <p:spPr>
          <a:xfrm>
            <a:off x="876302" y="4181204"/>
            <a:ext cx="4962468" cy="2103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#2: Create DSU Slots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deadline = 3, so DSU uses slots 0 to 3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56AEB5-A95D-7223-EED2-DCBCC3C20676}"/>
              </a:ext>
            </a:extLst>
          </p:cNvPr>
          <p:cNvSpPr txBox="1"/>
          <p:nvPr/>
        </p:nvSpPr>
        <p:spPr>
          <a:xfrm>
            <a:off x="9216736" y="1325880"/>
            <a:ext cx="2306782" cy="1736646"/>
          </a:xfrm>
          <a:prstGeom prst="roundRect">
            <a:avLst>
              <a:gd name="adj" fmla="val 8290"/>
            </a:avLst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square" rtlCol="0">
            <a:spAutoFit/>
          </a:bodyPr>
          <a:lstStyle/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result:</a:t>
            </a:r>
          </a:p>
          <a:p>
            <a:pPr algn="ctr"/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countJobs = 0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totalProfit = 0</a:t>
            </a:r>
          </a:p>
          <a:p>
            <a:pPr algn="ctr"/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90">
            <a:extLst>
              <a:ext uri="{FF2B5EF4-FFF2-40B4-BE49-F238E27FC236}">
                <a16:creationId xmlns:a16="http://schemas.microsoft.com/office/drawing/2014/main" id="{2A916DA0-0F26-F0FF-6CCB-08DD1992971B}"/>
              </a:ext>
            </a:extLst>
          </p:cNvPr>
          <p:cNvSpPr/>
          <p:nvPr/>
        </p:nvSpPr>
        <p:spPr>
          <a:xfrm>
            <a:off x="987990" y="5064171"/>
            <a:ext cx="685800" cy="388620"/>
          </a:xfrm>
          <a:prstGeom prst="rect">
            <a:avLst/>
          </a:prstGeom>
          <a:solidFill>
            <a:srgbClr val="1F2937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91">
            <a:extLst>
              <a:ext uri="{FF2B5EF4-FFF2-40B4-BE49-F238E27FC236}">
                <a16:creationId xmlns:a16="http://schemas.microsoft.com/office/drawing/2014/main" id="{8D54B0B4-6DC5-4DA2-996E-E34EE1C1F85B}"/>
              </a:ext>
            </a:extLst>
          </p:cNvPr>
          <p:cNvSpPr/>
          <p:nvPr/>
        </p:nvSpPr>
        <p:spPr>
          <a:xfrm>
            <a:off x="1006278" y="5091603"/>
            <a:ext cx="64922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Index</a:t>
            </a:r>
            <a:endParaRPr lang="en-US" sz="1200" dirty="0"/>
          </a:p>
        </p:txBody>
      </p:sp>
      <p:sp>
        <p:nvSpPr>
          <p:cNvPr id="22" name="Shape 92">
            <a:extLst>
              <a:ext uri="{FF2B5EF4-FFF2-40B4-BE49-F238E27FC236}">
                <a16:creationId xmlns:a16="http://schemas.microsoft.com/office/drawing/2014/main" id="{323A7F64-3ED0-92E6-9B57-05C9F9B735AD}"/>
              </a:ext>
            </a:extLst>
          </p:cNvPr>
          <p:cNvSpPr/>
          <p:nvPr/>
        </p:nvSpPr>
        <p:spPr>
          <a:xfrm>
            <a:off x="1673790" y="5064171"/>
            <a:ext cx="834390" cy="388620"/>
          </a:xfrm>
          <a:prstGeom prst="rect">
            <a:avLst/>
          </a:prstGeom>
          <a:solidFill>
            <a:srgbClr val="1F2937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93">
            <a:extLst>
              <a:ext uri="{FF2B5EF4-FFF2-40B4-BE49-F238E27FC236}">
                <a16:creationId xmlns:a16="http://schemas.microsoft.com/office/drawing/2014/main" id="{0DD57C30-0394-6DED-8965-EC476A4EA297}"/>
              </a:ext>
            </a:extLst>
          </p:cNvPr>
          <p:cNvSpPr/>
          <p:nvPr/>
        </p:nvSpPr>
        <p:spPr>
          <a:xfrm>
            <a:off x="1692078" y="5091603"/>
            <a:ext cx="79781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</a:t>
            </a:r>
            <a:endParaRPr lang="en-US" sz="1200" dirty="0"/>
          </a:p>
        </p:txBody>
      </p:sp>
      <p:sp>
        <p:nvSpPr>
          <p:cNvPr id="28" name="Shape 94">
            <a:extLst>
              <a:ext uri="{FF2B5EF4-FFF2-40B4-BE49-F238E27FC236}">
                <a16:creationId xmlns:a16="http://schemas.microsoft.com/office/drawing/2014/main" id="{8B8F12C5-B97C-9FED-3126-619137EE1B3D}"/>
              </a:ext>
            </a:extLst>
          </p:cNvPr>
          <p:cNvSpPr/>
          <p:nvPr/>
        </p:nvSpPr>
        <p:spPr>
          <a:xfrm>
            <a:off x="2508180" y="5064171"/>
            <a:ext cx="834390" cy="388620"/>
          </a:xfrm>
          <a:prstGeom prst="rect">
            <a:avLst/>
          </a:prstGeom>
          <a:solidFill>
            <a:srgbClr val="1F2937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95">
            <a:extLst>
              <a:ext uri="{FF2B5EF4-FFF2-40B4-BE49-F238E27FC236}">
                <a16:creationId xmlns:a16="http://schemas.microsoft.com/office/drawing/2014/main" id="{82298B4F-22A4-CC59-3216-E499B3193B4D}"/>
              </a:ext>
            </a:extLst>
          </p:cNvPr>
          <p:cNvSpPr/>
          <p:nvPr/>
        </p:nvSpPr>
        <p:spPr>
          <a:xfrm>
            <a:off x="2526468" y="5091603"/>
            <a:ext cx="79781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2" name="Shape 96">
            <a:extLst>
              <a:ext uri="{FF2B5EF4-FFF2-40B4-BE49-F238E27FC236}">
                <a16:creationId xmlns:a16="http://schemas.microsoft.com/office/drawing/2014/main" id="{0E1B1A54-D216-94C2-6640-C3E151CB77B3}"/>
              </a:ext>
            </a:extLst>
          </p:cNvPr>
          <p:cNvSpPr/>
          <p:nvPr/>
        </p:nvSpPr>
        <p:spPr>
          <a:xfrm>
            <a:off x="3342570" y="5064171"/>
            <a:ext cx="834390" cy="388620"/>
          </a:xfrm>
          <a:prstGeom prst="rect">
            <a:avLst/>
          </a:prstGeom>
          <a:solidFill>
            <a:srgbClr val="1F2937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Text 97">
            <a:extLst>
              <a:ext uri="{FF2B5EF4-FFF2-40B4-BE49-F238E27FC236}">
                <a16:creationId xmlns:a16="http://schemas.microsoft.com/office/drawing/2014/main" id="{1DD8F99F-DB6E-E6D9-E9BC-5B03938D1559}"/>
              </a:ext>
            </a:extLst>
          </p:cNvPr>
          <p:cNvSpPr/>
          <p:nvPr/>
        </p:nvSpPr>
        <p:spPr>
          <a:xfrm>
            <a:off x="3360858" y="5091603"/>
            <a:ext cx="79781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6" name="Shape 98">
            <a:extLst>
              <a:ext uri="{FF2B5EF4-FFF2-40B4-BE49-F238E27FC236}">
                <a16:creationId xmlns:a16="http://schemas.microsoft.com/office/drawing/2014/main" id="{117AF75A-88FF-957C-67E7-06F4123B3348}"/>
              </a:ext>
            </a:extLst>
          </p:cNvPr>
          <p:cNvSpPr/>
          <p:nvPr/>
        </p:nvSpPr>
        <p:spPr>
          <a:xfrm>
            <a:off x="4176960" y="5064171"/>
            <a:ext cx="834390" cy="388620"/>
          </a:xfrm>
          <a:prstGeom prst="rect">
            <a:avLst/>
          </a:prstGeom>
          <a:solidFill>
            <a:srgbClr val="1F2937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Text 99">
            <a:extLst>
              <a:ext uri="{FF2B5EF4-FFF2-40B4-BE49-F238E27FC236}">
                <a16:creationId xmlns:a16="http://schemas.microsoft.com/office/drawing/2014/main" id="{563254D7-ECB1-9878-2D28-0B3A6C096205}"/>
              </a:ext>
            </a:extLst>
          </p:cNvPr>
          <p:cNvSpPr/>
          <p:nvPr/>
        </p:nvSpPr>
        <p:spPr>
          <a:xfrm>
            <a:off x="4195248" y="5091603"/>
            <a:ext cx="79781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0" name="Shape 100">
            <a:extLst>
              <a:ext uri="{FF2B5EF4-FFF2-40B4-BE49-F238E27FC236}">
                <a16:creationId xmlns:a16="http://schemas.microsoft.com/office/drawing/2014/main" id="{53D00BF9-BE00-AC49-6FD3-38BD39B279CD}"/>
              </a:ext>
            </a:extLst>
          </p:cNvPr>
          <p:cNvSpPr/>
          <p:nvPr/>
        </p:nvSpPr>
        <p:spPr>
          <a:xfrm>
            <a:off x="987990" y="5452791"/>
            <a:ext cx="685800" cy="388620"/>
          </a:xfrm>
          <a:prstGeom prst="rect">
            <a:avLst/>
          </a:prstGeom>
          <a:solidFill>
            <a:srgbClr val="1F2937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Text 101">
            <a:extLst>
              <a:ext uri="{FF2B5EF4-FFF2-40B4-BE49-F238E27FC236}">
                <a16:creationId xmlns:a16="http://schemas.microsoft.com/office/drawing/2014/main" id="{A879AC21-79BA-4AF8-AE76-4E1F2FC22E21}"/>
              </a:ext>
            </a:extLst>
          </p:cNvPr>
          <p:cNvSpPr/>
          <p:nvPr/>
        </p:nvSpPr>
        <p:spPr>
          <a:xfrm>
            <a:off x="1006278" y="5480223"/>
            <a:ext cx="64922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Parent</a:t>
            </a:r>
            <a:endParaRPr lang="en-US" sz="1200" dirty="0"/>
          </a:p>
        </p:txBody>
      </p:sp>
      <p:sp>
        <p:nvSpPr>
          <p:cNvPr id="44" name="Shape 102">
            <a:extLst>
              <a:ext uri="{FF2B5EF4-FFF2-40B4-BE49-F238E27FC236}">
                <a16:creationId xmlns:a16="http://schemas.microsoft.com/office/drawing/2014/main" id="{054387EC-A72A-BD48-D8E4-3C627576F823}"/>
              </a:ext>
            </a:extLst>
          </p:cNvPr>
          <p:cNvSpPr/>
          <p:nvPr/>
        </p:nvSpPr>
        <p:spPr>
          <a:xfrm>
            <a:off x="1673790" y="5452791"/>
            <a:ext cx="834390" cy="388620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6" name="Text 103">
            <a:extLst>
              <a:ext uri="{FF2B5EF4-FFF2-40B4-BE49-F238E27FC236}">
                <a16:creationId xmlns:a16="http://schemas.microsoft.com/office/drawing/2014/main" id="{4839D180-6818-0DDE-7692-BA3E9CE728CE}"/>
              </a:ext>
            </a:extLst>
          </p:cNvPr>
          <p:cNvSpPr/>
          <p:nvPr/>
        </p:nvSpPr>
        <p:spPr>
          <a:xfrm>
            <a:off x="1692078" y="5480223"/>
            <a:ext cx="79781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</a:rPr>
              <a:t>0</a:t>
            </a:r>
            <a:endParaRPr lang="en-US" sz="1200" dirty="0"/>
          </a:p>
        </p:txBody>
      </p:sp>
      <p:sp>
        <p:nvSpPr>
          <p:cNvPr id="48" name="Shape 104">
            <a:extLst>
              <a:ext uri="{FF2B5EF4-FFF2-40B4-BE49-F238E27FC236}">
                <a16:creationId xmlns:a16="http://schemas.microsoft.com/office/drawing/2014/main" id="{071E9731-F6A9-2FB7-BCAE-9E56CA3B161B}"/>
              </a:ext>
            </a:extLst>
          </p:cNvPr>
          <p:cNvSpPr/>
          <p:nvPr/>
        </p:nvSpPr>
        <p:spPr>
          <a:xfrm>
            <a:off x="2508180" y="5452791"/>
            <a:ext cx="834390" cy="388620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0" name="Text 105">
            <a:extLst>
              <a:ext uri="{FF2B5EF4-FFF2-40B4-BE49-F238E27FC236}">
                <a16:creationId xmlns:a16="http://schemas.microsoft.com/office/drawing/2014/main" id="{099F2ECF-66A7-30BF-CF50-3B2DB2E74D39}"/>
              </a:ext>
            </a:extLst>
          </p:cNvPr>
          <p:cNvSpPr/>
          <p:nvPr/>
        </p:nvSpPr>
        <p:spPr>
          <a:xfrm>
            <a:off x="2526468" y="5480223"/>
            <a:ext cx="79781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</a:rPr>
              <a:t>1</a:t>
            </a:r>
            <a:endParaRPr lang="en-US" sz="1200" dirty="0"/>
          </a:p>
        </p:txBody>
      </p:sp>
      <p:sp>
        <p:nvSpPr>
          <p:cNvPr id="52" name="Shape 106">
            <a:extLst>
              <a:ext uri="{FF2B5EF4-FFF2-40B4-BE49-F238E27FC236}">
                <a16:creationId xmlns:a16="http://schemas.microsoft.com/office/drawing/2014/main" id="{F185B1C9-3C47-0AA1-2FDE-866F12C03FD1}"/>
              </a:ext>
            </a:extLst>
          </p:cNvPr>
          <p:cNvSpPr/>
          <p:nvPr/>
        </p:nvSpPr>
        <p:spPr>
          <a:xfrm>
            <a:off x="3342570" y="5452791"/>
            <a:ext cx="834390" cy="388620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4" name="Text 107">
            <a:extLst>
              <a:ext uri="{FF2B5EF4-FFF2-40B4-BE49-F238E27FC236}">
                <a16:creationId xmlns:a16="http://schemas.microsoft.com/office/drawing/2014/main" id="{B9ECF8DC-0E8E-7388-05D6-598377CECD8E}"/>
              </a:ext>
            </a:extLst>
          </p:cNvPr>
          <p:cNvSpPr/>
          <p:nvPr/>
        </p:nvSpPr>
        <p:spPr>
          <a:xfrm>
            <a:off x="3360858" y="5480223"/>
            <a:ext cx="79781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</a:rPr>
              <a:t>2</a:t>
            </a:r>
            <a:endParaRPr lang="en-US" sz="1200" dirty="0"/>
          </a:p>
        </p:txBody>
      </p:sp>
      <p:sp>
        <p:nvSpPr>
          <p:cNvPr id="56" name="Shape 108">
            <a:extLst>
              <a:ext uri="{FF2B5EF4-FFF2-40B4-BE49-F238E27FC236}">
                <a16:creationId xmlns:a16="http://schemas.microsoft.com/office/drawing/2014/main" id="{BADED4B8-9151-E8D0-83D9-7004DED946B8}"/>
              </a:ext>
            </a:extLst>
          </p:cNvPr>
          <p:cNvSpPr/>
          <p:nvPr/>
        </p:nvSpPr>
        <p:spPr>
          <a:xfrm>
            <a:off x="4176960" y="5452791"/>
            <a:ext cx="834390" cy="388620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8" name="Text 109">
            <a:extLst>
              <a:ext uri="{FF2B5EF4-FFF2-40B4-BE49-F238E27FC236}">
                <a16:creationId xmlns:a16="http://schemas.microsoft.com/office/drawing/2014/main" id="{0A869FC8-DA3F-1043-298C-57BDC12FE4F5}"/>
              </a:ext>
            </a:extLst>
          </p:cNvPr>
          <p:cNvSpPr/>
          <p:nvPr/>
        </p:nvSpPr>
        <p:spPr>
          <a:xfrm>
            <a:off x="4195248" y="5480223"/>
            <a:ext cx="79781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</a:rPr>
              <a:t>3</a:t>
            </a:r>
            <a:endParaRPr lang="en-US" sz="1200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79725A9-31E5-97D7-8A88-B37AFEA17850}"/>
              </a:ext>
            </a:extLst>
          </p:cNvPr>
          <p:cNvGrpSpPr/>
          <p:nvPr/>
        </p:nvGrpSpPr>
        <p:grpSpPr>
          <a:xfrm>
            <a:off x="5911922" y="4872147"/>
            <a:ext cx="4206240" cy="659973"/>
            <a:chOff x="6875365" y="4941777"/>
            <a:chExt cx="4206240" cy="941832"/>
          </a:xfrm>
        </p:grpSpPr>
        <p:sp>
          <p:nvSpPr>
            <p:cNvPr id="62" name="Text 110">
              <a:extLst>
                <a:ext uri="{FF2B5EF4-FFF2-40B4-BE49-F238E27FC236}">
                  <a16:creationId xmlns:a16="http://schemas.microsoft.com/office/drawing/2014/main" id="{1933E65D-E45A-ED4C-ED01-5C320AF39EA0}"/>
                </a:ext>
              </a:extLst>
            </p:cNvPr>
            <p:cNvSpPr/>
            <p:nvPr/>
          </p:nvSpPr>
          <p:spPr>
            <a:xfrm>
              <a:off x="6875365" y="4941777"/>
              <a:ext cx="135331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#1</a:t>
              </a:r>
              <a:endParaRPr 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Shape 111">
              <a:extLst>
                <a:ext uri="{FF2B5EF4-FFF2-40B4-BE49-F238E27FC236}">
                  <a16:creationId xmlns:a16="http://schemas.microsoft.com/office/drawing/2014/main" id="{6F0FE148-78A2-B98F-E2F4-BE690F630AD6}"/>
                </a:ext>
              </a:extLst>
            </p:cNvPr>
            <p:cNvSpPr/>
            <p:nvPr/>
          </p:nvSpPr>
          <p:spPr>
            <a:xfrm>
              <a:off x="6875365" y="5197809"/>
              <a:ext cx="1353312" cy="6858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397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Text 112">
              <a:extLst>
                <a:ext uri="{FF2B5EF4-FFF2-40B4-BE49-F238E27FC236}">
                  <a16:creationId xmlns:a16="http://schemas.microsoft.com/office/drawing/2014/main" id="{3442C8A3-355F-3E9F-8BB1-7F4B691D2A1A}"/>
                </a:ext>
              </a:extLst>
            </p:cNvPr>
            <p:cNvSpPr/>
            <p:nvPr/>
          </p:nvSpPr>
          <p:spPr>
            <a:xfrm>
              <a:off x="6893653" y="5421837"/>
              <a:ext cx="131673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Text 113">
              <a:extLst>
                <a:ext uri="{FF2B5EF4-FFF2-40B4-BE49-F238E27FC236}">
                  <a16:creationId xmlns:a16="http://schemas.microsoft.com/office/drawing/2014/main" id="{1AE41176-379A-BA35-616C-796D2D8DC8CF}"/>
                </a:ext>
              </a:extLst>
            </p:cNvPr>
            <p:cNvSpPr/>
            <p:nvPr/>
          </p:nvSpPr>
          <p:spPr>
            <a:xfrm>
              <a:off x="8301829" y="4941777"/>
              <a:ext cx="135331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#2</a:t>
              </a:r>
              <a:endParaRPr 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Shape 114">
              <a:extLst>
                <a:ext uri="{FF2B5EF4-FFF2-40B4-BE49-F238E27FC236}">
                  <a16:creationId xmlns:a16="http://schemas.microsoft.com/office/drawing/2014/main" id="{2FBD6609-AF81-8A4C-69CE-605FE0D9D19F}"/>
                </a:ext>
              </a:extLst>
            </p:cNvPr>
            <p:cNvSpPr/>
            <p:nvPr/>
          </p:nvSpPr>
          <p:spPr>
            <a:xfrm>
              <a:off x="8301829" y="5197809"/>
              <a:ext cx="1353312" cy="6858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397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Text 115">
              <a:extLst>
                <a:ext uri="{FF2B5EF4-FFF2-40B4-BE49-F238E27FC236}">
                  <a16:creationId xmlns:a16="http://schemas.microsoft.com/office/drawing/2014/main" id="{B8AC0D0F-5A94-2303-D8D3-A22092B1F999}"/>
                </a:ext>
              </a:extLst>
            </p:cNvPr>
            <p:cNvSpPr/>
            <p:nvPr/>
          </p:nvSpPr>
          <p:spPr>
            <a:xfrm>
              <a:off x="8320117" y="5421837"/>
              <a:ext cx="131673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Text 116">
              <a:extLst>
                <a:ext uri="{FF2B5EF4-FFF2-40B4-BE49-F238E27FC236}">
                  <a16:creationId xmlns:a16="http://schemas.microsoft.com/office/drawing/2014/main" id="{F61A8271-1A2A-97DD-4DA6-C40A73A05289}"/>
                </a:ext>
              </a:extLst>
            </p:cNvPr>
            <p:cNvSpPr/>
            <p:nvPr/>
          </p:nvSpPr>
          <p:spPr>
            <a:xfrm>
              <a:off x="9728293" y="4941777"/>
              <a:ext cx="135331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#3</a:t>
              </a:r>
              <a:endParaRPr 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Shape 117">
              <a:extLst>
                <a:ext uri="{FF2B5EF4-FFF2-40B4-BE49-F238E27FC236}">
                  <a16:creationId xmlns:a16="http://schemas.microsoft.com/office/drawing/2014/main" id="{5D696478-D252-E90F-6DA3-0EC5A2E83A00}"/>
                </a:ext>
              </a:extLst>
            </p:cNvPr>
            <p:cNvSpPr/>
            <p:nvPr/>
          </p:nvSpPr>
          <p:spPr>
            <a:xfrm>
              <a:off x="9728293" y="5197809"/>
              <a:ext cx="1353312" cy="6858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397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Text 118">
              <a:extLst>
                <a:ext uri="{FF2B5EF4-FFF2-40B4-BE49-F238E27FC236}">
                  <a16:creationId xmlns:a16="http://schemas.microsoft.com/office/drawing/2014/main" id="{DAFB719D-F1D6-7744-F560-437A4F2846C3}"/>
                </a:ext>
              </a:extLst>
            </p:cNvPr>
            <p:cNvSpPr/>
            <p:nvPr/>
          </p:nvSpPr>
          <p:spPr>
            <a:xfrm>
              <a:off x="9746581" y="5421837"/>
              <a:ext cx="131673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Arrow: Right 80">
            <a:extLst>
              <a:ext uri="{FF2B5EF4-FFF2-40B4-BE49-F238E27FC236}">
                <a16:creationId xmlns:a16="http://schemas.microsoft.com/office/drawing/2014/main" id="{F58ADDCC-D38C-FC81-7929-2528AB4927F8}"/>
              </a:ext>
            </a:extLst>
          </p:cNvPr>
          <p:cNvSpPr/>
          <p:nvPr/>
        </p:nvSpPr>
        <p:spPr>
          <a:xfrm rot="5400000">
            <a:off x="5820445" y="3924596"/>
            <a:ext cx="740229" cy="520700"/>
          </a:xfrm>
          <a:prstGeom prst="rightArrow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LID4096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9C6155A-F42A-2354-A701-4A41BE999B81}"/>
              </a:ext>
            </a:extLst>
          </p:cNvPr>
          <p:cNvCxnSpPr/>
          <p:nvPr/>
        </p:nvCxnSpPr>
        <p:spPr>
          <a:xfrm>
            <a:off x="876302" y="1023433"/>
            <a:ext cx="1035261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5667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0D5CC-38A1-4E49-BE50-3CAD8D556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93657-1ACF-E093-9AA9-BD2BEB83D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465"/>
            <a:ext cx="8582024" cy="52070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#1 (Cont.)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E5E6C-BCDB-3F7C-BC5B-7B6D73493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02" y="1110726"/>
            <a:ext cx="2900838" cy="2382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#3: Schedule Jobs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J1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J1 has: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462B47-E592-86DE-D463-692AB835F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02654"/>
              </p:ext>
            </p:extLst>
          </p:nvPr>
        </p:nvGraphicFramePr>
        <p:xfrm>
          <a:off x="921135" y="1390377"/>
          <a:ext cx="3567736" cy="2103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91934">
                  <a:extLst>
                    <a:ext uri="{9D8B030D-6E8A-4147-A177-3AD203B41FA5}">
                      <a16:colId xmlns:a16="http://schemas.microsoft.com/office/drawing/2014/main" val="741510827"/>
                    </a:ext>
                  </a:extLst>
                </a:gridCol>
                <a:gridCol w="891934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891934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891934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ECEBA14C-8EA0-E569-DC21-21D7790B7513}"/>
              </a:ext>
            </a:extLst>
          </p:cNvPr>
          <p:cNvGrpSpPr/>
          <p:nvPr/>
        </p:nvGrpSpPr>
        <p:grpSpPr>
          <a:xfrm>
            <a:off x="5061193" y="2129750"/>
            <a:ext cx="1953257" cy="664028"/>
            <a:chOff x="923494" y="2310222"/>
            <a:chExt cx="1953257" cy="6640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B8B6FCC-4EB5-9ECD-1F98-E847CF8FF820}"/>
                </a:ext>
              </a:extLst>
            </p:cNvPr>
            <p:cNvSpPr/>
            <p:nvPr/>
          </p:nvSpPr>
          <p:spPr>
            <a:xfrm>
              <a:off x="923494" y="2310222"/>
              <a:ext cx="76200" cy="664028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B254E92-0D94-7300-B02A-93C79FE3A99F}"/>
                </a:ext>
              </a:extLst>
            </p:cNvPr>
            <p:cNvSpPr/>
            <p:nvPr/>
          </p:nvSpPr>
          <p:spPr>
            <a:xfrm>
              <a:off x="1010964" y="2310222"/>
              <a:ext cx="1865787" cy="6640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175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deadline = 2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profit = 100</a:t>
              </a: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C0E3CB2-5A66-1BB7-A667-AAB34F8A3EE8}"/>
              </a:ext>
            </a:extLst>
          </p:cNvPr>
          <p:cNvSpPr txBox="1">
            <a:spLocks/>
          </p:cNvSpPr>
          <p:nvPr/>
        </p:nvSpPr>
        <p:spPr>
          <a:xfrm>
            <a:off x="961135" y="5342839"/>
            <a:ext cx="1909175" cy="1149755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results: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countJobs =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totalProfit = 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3EB442B-A705-F5BD-9969-97611863A2EC}"/>
              </a:ext>
            </a:extLst>
          </p:cNvPr>
          <p:cNvGrpSpPr/>
          <p:nvPr/>
        </p:nvGrpSpPr>
        <p:grpSpPr>
          <a:xfrm>
            <a:off x="7567897" y="1101213"/>
            <a:ext cx="3704654" cy="1929206"/>
            <a:chOff x="7947797" y="929459"/>
            <a:chExt cx="3569966" cy="2011680"/>
          </a:xfrm>
        </p:grpSpPr>
        <p:sp>
          <p:nvSpPr>
            <p:cNvPr id="21" name="Shape 54">
              <a:extLst>
                <a:ext uri="{FF2B5EF4-FFF2-40B4-BE49-F238E27FC236}">
                  <a16:creationId xmlns:a16="http://schemas.microsoft.com/office/drawing/2014/main" id="{A478A7C7-E725-7852-A53E-0B84476351F3}"/>
                </a:ext>
              </a:extLst>
            </p:cNvPr>
            <p:cNvSpPr/>
            <p:nvPr/>
          </p:nvSpPr>
          <p:spPr>
            <a:xfrm>
              <a:off x="7947797" y="929459"/>
              <a:ext cx="3569965" cy="2011680"/>
            </a:xfrm>
            <a:prstGeom prst="roundRect">
              <a:avLst>
                <a:gd name="adj" fmla="val 3636"/>
              </a:avLst>
            </a:prstGeom>
            <a:solidFill>
              <a:srgbClr val="F8FAFC"/>
            </a:solidFill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600"/>
            </a:p>
          </p:txBody>
        </p:sp>
        <p:sp>
          <p:nvSpPr>
            <p:cNvPr id="25" name="Text 55">
              <a:extLst>
                <a:ext uri="{FF2B5EF4-FFF2-40B4-BE49-F238E27FC236}">
                  <a16:creationId xmlns:a16="http://schemas.microsoft.com/office/drawing/2014/main" id="{DFE03989-4939-B2D3-AE3B-0C57560B10E6}"/>
                </a:ext>
              </a:extLst>
            </p:cNvPr>
            <p:cNvSpPr/>
            <p:nvPr/>
          </p:nvSpPr>
          <p:spPr>
            <a:xfrm>
              <a:off x="8211987" y="1082133"/>
              <a:ext cx="3305776" cy="160020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find(2) = 2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2 is free, so place J1 there.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Then mark Slot 2 as occupied: parent[2] = find(1) = 1.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B8A448C-2CC0-B141-35B1-5F1FBE46CD34}"/>
              </a:ext>
            </a:extLst>
          </p:cNvPr>
          <p:cNvSpPr txBox="1"/>
          <p:nvPr/>
        </p:nvSpPr>
        <p:spPr>
          <a:xfrm>
            <a:off x="838200" y="1036433"/>
            <a:ext cx="4309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Jobs by Profit</a:t>
            </a: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1E247A44-D793-9F50-C880-C579BCF657AC}"/>
              </a:ext>
            </a:extLst>
          </p:cNvPr>
          <p:cNvGrpSpPr/>
          <p:nvPr/>
        </p:nvGrpSpPr>
        <p:grpSpPr>
          <a:xfrm>
            <a:off x="876299" y="3799207"/>
            <a:ext cx="4932296" cy="1127325"/>
            <a:chOff x="876299" y="3799207"/>
            <a:chExt cx="4756858" cy="1127325"/>
          </a:xfrm>
        </p:grpSpPr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116466C8-815A-D290-AABC-DFB889DBF119}"/>
                </a:ext>
              </a:extLst>
            </p:cNvPr>
            <p:cNvSpPr txBox="1">
              <a:spLocks/>
            </p:cNvSpPr>
            <p:nvPr/>
          </p:nvSpPr>
          <p:spPr>
            <a:xfrm>
              <a:off x="876299" y="3799207"/>
              <a:ext cx="4756857" cy="33855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DSU parent array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Shape 57">
              <a:extLst>
                <a:ext uri="{FF2B5EF4-FFF2-40B4-BE49-F238E27FC236}">
                  <a16:creationId xmlns:a16="http://schemas.microsoft.com/office/drawing/2014/main" id="{D6D40D62-F910-0FF9-FAB3-367A15786D1F}"/>
                </a:ext>
              </a:extLst>
            </p:cNvPr>
            <p:cNvSpPr/>
            <p:nvPr/>
          </p:nvSpPr>
          <p:spPr>
            <a:xfrm>
              <a:off x="969717" y="4149292"/>
              <a:ext cx="68580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Text 58">
              <a:extLst>
                <a:ext uri="{FF2B5EF4-FFF2-40B4-BE49-F238E27FC236}">
                  <a16:creationId xmlns:a16="http://schemas.microsoft.com/office/drawing/2014/main" id="{3EFD7B9B-3F7E-3133-67EE-38975B4A4EDF}"/>
                </a:ext>
              </a:extLst>
            </p:cNvPr>
            <p:cNvSpPr/>
            <p:nvPr/>
          </p:nvSpPr>
          <p:spPr>
            <a:xfrm>
              <a:off x="988005" y="4176724"/>
              <a:ext cx="64922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Index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Shape 59">
              <a:extLst>
                <a:ext uri="{FF2B5EF4-FFF2-40B4-BE49-F238E27FC236}">
                  <a16:creationId xmlns:a16="http://schemas.microsoft.com/office/drawing/2014/main" id="{2370D0EC-0021-A5FE-A08B-6FA0785DC96B}"/>
                </a:ext>
              </a:extLst>
            </p:cNvPr>
            <p:cNvSpPr/>
            <p:nvPr/>
          </p:nvSpPr>
          <p:spPr>
            <a:xfrm>
              <a:off x="1655517" y="4149292"/>
              <a:ext cx="99441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 60">
              <a:extLst>
                <a:ext uri="{FF2B5EF4-FFF2-40B4-BE49-F238E27FC236}">
                  <a16:creationId xmlns:a16="http://schemas.microsoft.com/office/drawing/2014/main" id="{8CC91675-481F-B0CD-36AF-2CC8B40CABC6}"/>
                </a:ext>
              </a:extLst>
            </p:cNvPr>
            <p:cNvSpPr/>
            <p:nvPr/>
          </p:nvSpPr>
          <p:spPr>
            <a:xfrm>
              <a:off x="1673805" y="417672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Shape 61">
              <a:extLst>
                <a:ext uri="{FF2B5EF4-FFF2-40B4-BE49-F238E27FC236}">
                  <a16:creationId xmlns:a16="http://schemas.microsoft.com/office/drawing/2014/main" id="{0B16A604-ADAB-E80D-40DB-560B4B45A4C9}"/>
                </a:ext>
              </a:extLst>
            </p:cNvPr>
            <p:cNvSpPr/>
            <p:nvPr/>
          </p:nvSpPr>
          <p:spPr>
            <a:xfrm>
              <a:off x="2649927" y="4149292"/>
              <a:ext cx="99441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Text 62">
              <a:extLst>
                <a:ext uri="{FF2B5EF4-FFF2-40B4-BE49-F238E27FC236}">
                  <a16:creationId xmlns:a16="http://schemas.microsoft.com/office/drawing/2014/main" id="{6A123286-582B-1BA5-297A-198D77D944EA}"/>
                </a:ext>
              </a:extLst>
            </p:cNvPr>
            <p:cNvSpPr/>
            <p:nvPr/>
          </p:nvSpPr>
          <p:spPr>
            <a:xfrm>
              <a:off x="2668215" y="417672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Shape 63">
              <a:extLst>
                <a:ext uri="{FF2B5EF4-FFF2-40B4-BE49-F238E27FC236}">
                  <a16:creationId xmlns:a16="http://schemas.microsoft.com/office/drawing/2014/main" id="{12FD34CC-2238-58A8-15B7-D9F1CC21A91D}"/>
                </a:ext>
              </a:extLst>
            </p:cNvPr>
            <p:cNvSpPr/>
            <p:nvPr/>
          </p:nvSpPr>
          <p:spPr>
            <a:xfrm>
              <a:off x="3644337" y="4149292"/>
              <a:ext cx="99441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Text 64">
              <a:extLst>
                <a:ext uri="{FF2B5EF4-FFF2-40B4-BE49-F238E27FC236}">
                  <a16:creationId xmlns:a16="http://schemas.microsoft.com/office/drawing/2014/main" id="{CE914992-52AE-74AD-9706-A29A23BCF376}"/>
                </a:ext>
              </a:extLst>
            </p:cNvPr>
            <p:cNvSpPr/>
            <p:nvPr/>
          </p:nvSpPr>
          <p:spPr>
            <a:xfrm>
              <a:off x="3662625" y="417672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Shape 65">
              <a:extLst>
                <a:ext uri="{FF2B5EF4-FFF2-40B4-BE49-F238E27FC236}">
                  <a16:creationId xmlns:a16="http://schemas.microsoft.com/office/drawing/2014/main" id="{56376ACA-8924-852A-8355-A31DFA4E06DC}"/>
                </a:ext>
              </a:extLst>
            </p:cNvPr>
            <p:cNvSpPr/>
            <p:nvPr/>
          </p:nvSpPr>
          <p:spPr>
            <a:xfrm>
              <a:off x="4638747" y="4149292"/>
              <a:ext cx="99441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Text 66">
              <a:extLst>
                <a:ext uri="{FF2B5EF4-FFF2-40B4-BE49-F238E27FC236}">
                  <a16:creationId xmlns:a16="http://schemas.microsoft.com/office/drawing/2014/main" id="{EC4801F5-42F1-7D29-41AC-14A1734825E8}"/>
                </a:ext>
              </a:extLst>
            </p:cNvPr>
            <p:cNvSpPr/>
            <p:nvPr/>
          </p:nvSpPr>
          <p:spPr>
            <a:xfrm>
              <a:off x="4657035" y="417672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Shape 67">
              <a:extLst>
                <a:ext uri="{FF2B5EF4-FFF2-40B4-BE49-F238E27FC236}">
                  <a16:creationId xmlns:a16="http://schemas.microsoft.com/office/drawing/2014/main" id="{1DA949E1-231E-3644-B21C-398722CE5CA2}"/>
                </a:ext>
              </a:extLst>
            </p:cNvPr>
            <p:cNvSpPr/>
            <p:nvPr/>
          </p:nvSpPr>
          <p:spPr>
            <a:xfrm>
              <a:off x="969717" y="4537912"/>
              <a:ext cx="68580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 68">
              <a:extLst>
                <a:ext uri="{FF2B5EF4-FFF2-40B4-BE49-F238E27FC236}">
                  <a16:creationId xmlns:a16="http://schemas.microsoft.com/office/drawing/2014/main" id="{6F314D9F-A196-6587-E140-B2CCC08F7B26}"/>
                </a:ext>
              </a:extLst>
            </p:cNvPr>
            <p:cNvSpPr/>
            <p:nvPr/>
          </p:nvSpPr>
          <p:spPr>
            <a:xfrm>
              <a:off x="988005" y="4565344"/>
              <a:ext cx="64922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Parent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Shape 69">
              <a:extLst>
                <a:ext uri="{FF2B5EF4-FFF2-40B4-BE49-F238E27FC236}">
                  <a16:creationId xmlns:a16="http://schemas.microsoft.com/office/drawing/2014/main" id="{885C5310-6C98-1106-B8DA-E1922B0C1415}"/>
                </a:ext>
              </a:extLst>
            </p:cNvPr>
            <p:cNvSpPr/>
            <p:nvPr/>
          </p:nvSpPr>
          <p:spPr>
            <a:xfrm>
              <a:off x="1655517" y="4537912"/>
              <a:ext cx="994410" cy="388620"/>
            </a:xfrm>
            <a:prstGeom prst="rect">
              <a:avLst/>
            </a:prstGeom>
            <a:solidFill>
              <a:srgbClr val="FFFFFF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 70">
              <a:extLst>
                <a:ext uri="{FF2B5EF4-FFF2-40B4-BE49-F238E27FC236}">
                  <a16:creationId xmlns:a16="http://schemas.microsoft.com/office/drawing/2014/main" id="{1A7A1B26-E485-6897-4C42-0C10076D52F0}"/>
                </a:ext>
              </a:extLst>
            </p:cNvPr>
            <p:cNvSpPr/>
            <p:nvPr/>
          </p:nvSpPr>
          <p:spPr>
            <a:xfrm>
              <a:off x="1673805" y="456534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Shape 71">
              <a:extLst>
                <a:ext uri="{FF2B5EF4-FFF2-40B4-BE49-F238E27FC236}">
                  <a16:creationId xmlns:a16="http://schemas.microsoft.com/office/drawing/2014/main" id="{71EEA5A3-9BAA-B949-F5FC-FD35A598625E}"/>
                </a:ext>
              </a:extLst>
            </p:cNvPr>
            <p:cNvSpPr/>
            <p:nvPr/>
          </p:nvSpPr>
          <p:spPr>
            <a:xfrm>
              <a:off x="2649927" y="4537912"/>
              <a:ext cx="994410" cy="388620"/>
            </a:xfrm>
            <a:prstGeom prst="rect">
              <a:avLst/>
            </a:prstGeom>
            <a:solidFill>
              <a:srgbClr val="FFFFFF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Text 72">
              <a:extLst>
                <a:ext uri="{FF2B5EF4-FFF2-40B4-BE49-F238E27FC236}">
                  <a16:creationId xmlns:a16="http://schemas.microsoft.com/office/drawing/2014/main" id="{8C0AFAF7-01CC-8EC4-966E-E4A740DFA4F6}"/>
                </a:ext>
              </a:extLst>
            </p:cNvPr>
            <p:cNvSpPr/>
            <p:nvPr/>
          </p:nvSpPr>
          <p:spPr>
            <a:xfrm>
              <a:off x="2668215" y="456534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Shape 73">
              <a:extLst>
                <a:ext uri="{FF2B5EF4-FFF2-40B4-BE49-F238E27FC236}">
                  <a16:creationId xmlns:a16="http://schemas.microsoft.com/office/drawing/2014/main" id="{3027B0EA-569B-ECEE-6D05-E59F96D25284}"/>
                </a:ext>
              </a:extLst>
            </p:cNvPr>
            <p:cNvSpPr/>
            <p:nvPr/>
          </p:nvSpPr>
          <p:spPr>
            <a:xfrm>
              <a:off x="3644337" y="4537912"/>
              <a:ext cx="994410" cy="388620"/>
            </a:xfrm>
            <a:prstGeom prst="rect">
              <a:avLst/>
            </a:prstGeom>
            <a:solidFill>
              <a:srgbClr val="FFEDD5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Text 74">
              <a:extLst>
                <a:ext uri="{FF2B5EF4-FFF2-40B4-BE49-F238E27FC236}">
                  <a16:creationId xmlns:a16="http://schemas.microsoft.com/office/drawing/2014/main" id="{2EFBC72E-B480-6F56-DB86-CE958C0A063D}"/>
                </a:ext>
              </a:extLst>
            </p:cNvPr>
            <p:cNvSpPr/>
            <p:nvPr/>
          </p:nvSpPr>
          <p:spPr>
            <a:xfrm>
              <a:off x="3662625" y="456534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Shape 75">
              <a:extLst>
                <a:ext uri="{FF2B5EF4-FFF2-40B4-BE49-F238E27FC236}">
                  <a16:creationId xmlns:a16="http://schemas.microsoft.com/office/drawing/2014/main" id="{94FE4D97-771E-34E9-D95F-70A22A938744}"/>
                </a:ext>
              </a:extLst>
            </p:cNvPr>
            <p:cNvSpPr/>
            <p:nvPr/>
          </p:nvSpPr>
          <p:spPr>
            <a:xfrm>
              <a:off x="4638747" y="4537912"/>
              <a:ext cx="994410" cy="388620"/>
            </a:xfrm>
            <a:prstGeom prst="rect">
              <a:avLst/>
            </a:prstGeom>
            <a:solidFill>
              <a:srgbClr val="FFFFFF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Text 76">
              <a:extLst>
                <a:ext uri="{FF2B5EF4-FFF2-40B4-BE49-F238E27FC236}">
                  <a16:creationId xmlns:a16="http://schemas.microsoft.com/office/drawing/2014/main" id="{D2B02424-FB73-D7AA-4F3A-6EDE5064B91F}"/>
                </a:ext>
              </a:extLst>
            </p:cNvPr>
            <p:cNvSpPr/>
            <p:nvPr/>
          </p:nvSpPr>
          <p:spPr>
            <a:xfrm>
              <a:off x="4657035" y="456534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1" name="Text 77">
            <a:extLst>
              <a:ext uri="{FF2B5EF4-FFF2-40B4-BE49-F238E27FC236}">
                <a16:creationId xmlns:a16="http://schemas.microsoft.com/office/drawing/2014/main" id="{F47AE4A0-DF3E-0424-5056-170D54CADD96}"/>
              </a:ext>
            </a:extLst>
          </p:cNvPr>
          <p:cNvSpPr/>
          <p:nvPr/>
        </p:nvSpPr>
        <p:spPr>
          <a:xfrm>
            <a:off x="6677023" y="3940233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schedule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0765938-2117-FDBC-4328-343969762DFA}"/>
              </a:ext>
            </a:extLst>
          </p:cNvPr>
          <p:cNvGrpSpPr/>
          <p:nvPr/>
        </p:nvGrpSpPr>
        <p:grpSpPr>
          <a:xfrm>
            <a:off x="6677023" y="4311432"/>
            <a:ext cx="4645404" cy="767216"/>
            <a:chOff x="5072463" y="3936593"/>
            <a:chExt cx="5440680" cy="989939"/>
          </a:xfrm>
        </p:grpSpPr>
        <p:sp>
          <p:nvSpPr>
            <p:cNvPr id="115" name="Text 78">
              <a:extLst>
                <a:ext uri="{FF2B5EF4-FFF2-40B4-BE49-F238E27FC236}">
                  <a16:creationId xmlns:a16="http://schemas.microsoft.com/office/drawing/2014/main" id="{00E2BDF0-4AC8-2FFC-A545-468FB7B7AA51}"/>
                </a:ext>
              </a:extLst>
            </p:cNvPr>
            <p:cNvSpPr/>
            <p:nvPr/>
          </p:nvSpPr>
          <p:spPr>
            <a:xfrm>
              <a:off x="5072463" y="3948124"/>
              <a:ext cx="17647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#1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Shape 79">
              <a:extLst>
                <a:ext uri="{FF2B5EF4-FFF2-40B4-BE49-F238E27FC236}">
                  <a16:creationId xmlns:a16="http://schemas.microsoft.com/office/drawing/2014/main" id="{1D8A08DA-6AE1-1640-7797-3F0511A98124}"/>
                </a:ext>
              </a:extLst>
            </p:cNvPr>
            <p:cNvSpPr/>
            <p:nvPr/>
          </p:nvSpPr>
          <p:spPr>
            <a:xfrm>
              <a:off x="5072463" y="4240732"/>
              <a:ext cx="1764792" cy="6858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397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19" name="Text 80">
              <a:extLst>
                <a:ext uri="{FF2B5EF4-FFF2-40B4-BE49-F238E27FC236}">
                  <a16:creationId xmlns:a16="http://schemas.microsoft.com/office/drawing/2014/main" id="{AB62387C-086C-BA29-209A-9B45785F25D7}"/>
                </a:ext>
              </a:extLst>
            </p:cNvPr>
            <p:cNvSpPr/>
            <p:nvPr/>
          </p:nvSpPr>
          <p:spPr>
            <a:xfrm>
              <a:off x="5090751" y="4464760"/>
              <a:ext cx="17282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Text 81">
              <a:extLst>
                <a:ext uri="{FF2B5EF4-FFF2-40B4-BE49-F238E27FC236}">
                  <a16:creationId xmlns:a16="http://schemas.microsoft.com/office/drawing/2014/main" id="{2CFE7809-FB3C-0C99-322D-17BC74CB0417}"/>
                </a:ext>
              </a:extLst>
            </p:cNvPr>
            <p:cNvSpPr/>
            <p:nvPr/>
          </p:nvSpPr>
          <p:spPr>
            <a:xfrm>
              <a:off x="6910407" y="3948124"/>
              <a:ext cx="17647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#2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Shape 82">
              <a:extLst>
                <a:ext uri="{FF2B5EF4-FFF2-40B4-BE49-F238E27FC236}">
                  <a16:creationId xmlns:a16="http://schemas.microsoft.com/office/drawing/2014/main" id="{DCAA7D45-8E8A-11CB-0DF3-342BE232017E}"/>
                </a:ext>
              </a:extLst>
            </p:cNvPr>
            <p:cNvSpPr/>
            <p:nvPr/>
          </p:nvSpPr>
          <p:spPr>
            <a:xfrm>
              <a:off x="6910407" y="4240732"/>
              <a:ext cx="1764792" cy="685800"/>
            </a:xfrm>
            <a:prstGeom prst="roundRect">
              <a:avLst>
                <a:gd name="adj" fmla="val 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397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Text 83">
              <a:extLst>
                <a:ext uri="{FF2B5EF4-FFF2-40B4-BE49-F238E27FC236}">
                  <a16:creationId xmlns:a16="http://schemas.microsoft.com/office/drawing/2014/main" id="{07367928-32A5-942A-0790-3CBE254DD7BD}"/>
                </a:ext>
              </a:extLst>
            </p:cNvPr>
            <p:cNvSpPr/>
            <p:nvPr/>
          </p:nvSpPr>
          <p:spPr>
            <a:xfrm>
              <a:off x="6928695" y="4464760"/>
              <a:ext cx="17282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J1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Text 84">
              <a:extLst>
                <a:ext uri="{FF2B5EF4-FFF2-40B4-BE49-F238E27FC236}">
                  <a16:creationId xmlns:a16="http://schemas.microsoft.com/office/drawing/2014/main" id="{8F5CC593-ECC9-E5D4-9140-E7FC3F6CF28F}"/>
                </a:ext>
              </a:extLst>
            </p:cNvPr>
            <p:cNvSpPr/>
            <p:nvPr/>
          </p:nvSpPr>
          <p:spPr>
            <a:xfrm>
              <a:off x="8730063" y="3936593"/>
              <a:ext cx="17647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#3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Shape 85">
              <a:extLst>
                <a:ext uri="{FF2B5EF4-FFF2-40B4-BE49-F238E27FC236}">
                  <a16:creationId xmlns:a16="http://schemas.microsoft.com/office/drawing/2014/main" id="{12D5D657-F5B5-15EE-0D9B-8A4146624B56}"/>
                </a:ext>
              </a:extLst>
            </p:cNvPr>
            <p:cNvSpPr/>
            <p:nvPr/>
          </p:nvSpPr>
          <p:spPr>
            <a:xfrm>
              <a:off x="8748351" y="4240732"/>
              <a:ext cx="1764792" cy="6858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397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31" name="Text 86">
              <a:extLst>
                <a:ext uri="{FF2B5EF4-FFF2-40B4-BE49-F238E27FC236}">
                  <a16:creationId xmlns:a16="http://schemas.microsoft.com/office/drawing/2014/main" id="{05F4DA91-B94B-93DE-366A-573CABE65F68}"/>
                </a:ext>
              </a:extLst>
            </p:cNvPr>
            <p:cNvSpPr/>
            <p:nvPr/>
          </p:nvSpPr>
          <p:spPr>
            <a:xfrm>
              <a:off x="8766639" y="4464760"/>
              <a:ext cx="17282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6032D033-58B5-F7F9-BCB3-276A0C28410C}"/>
              </a:ext>
            </a:extLst>
          </p:cNvPr>
          <p:cNvCxnSpPr/>
          <p:nvPr/>
        </p:nvCxnSpPr>
        <p:spPr>
          <a:xfrm>
            <a:off x="921135" y="947233"/>
            <a:ext cx="1035261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540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E4E3C-4274-22B0-16D0-F059C094D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FC2BB-473D-667A-33D2-D69811FF0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465"/>
            <a:ext cx="8582024" cy="52070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#1 (Cont.)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73D99-5035-DB44-2174-FD9C94B51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02" y="1110726"/>
            <a:ext cx="2900838" cy="2382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#3: Schedule Jobs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J3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J3 has: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30182D5-080B-923B-6C49-44900DD60527}"/>
              </a:ext>
            </a:extLst>
          </p:cNvPr>
          <p:cNvGraphicFramePr>
            <a:graphicFrameLocks noGrp="1"/>
          </p:cNvGraphicFramePr>
          <p:nvPr/>
        </p:nvGraphicFramePr>
        <p:xfrm>
          <a:off x="921135" y="1390377"/>
          <a:ext cx="3567736" cy="2103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91934">
                  <a:extLst>
                    <a:ext uri="{9D8B030D-6E8A-4147-A177-3AD203B41FA5}">
                      <a16:colId xmlns:a16="http://schemas.microsoft.com/office/drawing/2014/main" val="741510827"/>
                    </a:ext>
                  </a:extLst>
                </a:gridCol>
                <a:gridCol w="891934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891934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891934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93E27D8B-C85E-2386-641A-98A826698621}"/>
              </a:ext>
            </a:extLst>
          </p:cNvPr>
          <p:cNvGrpSpPr/>
          <p:nvPr/>
        </p:nvGrpSpPr>
        <p:grpSpPr>
          <a:xfrm>
            <a:off x="5061584" y="2129750"/>
            <a:ext cx="1952866" cy="664028"/>
            <a:chOff x="923885" y="2310222"/>
            <a:chExt cx="1952866" cy="6640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E48344B-5B35-6B88-366C-D68E93BE52C2}"/>
                </a:ext>
              </a:extLst>
            </p:cNvPr>
            <p:cNvSpPr/>
            <p:nvPr/>
          </p:nvSpPr>
          <p:spPr>
            <a:xfrm>
              <a:off x="923885" y="2310222"/>
              <a:ext cx="76200" cy="664028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BD6BF9D-44CF-6F5A-AA0F-90D0B26744CA}"/>
                </a:ext>
              </a:extLst>
            </p:cNvPr>
            <p:cNvSpPr/>
            <p:nvPr/>
          </p:nvSpPr>
          <p:spPr>
            <a:xfrm>
              <a:off x="1010964" y="2310222"/>
              <a:ext cx="1865787" cy="6640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175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deadline = 2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profit = 27</a:t>
              </a: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DAAF2FC-CC82-734F-8675-E3317D74F522}"/>
              </a:ext>
            </a:extLst>
          </p:cNvPr>
          <p:cNvSpPr txBox="1">
            <a:spLocks/>
          </p:cNvSpPr>
          <p:nvPr/>
        </p:nvSpPr>
        <p:spPr>
          <a:xfrm>
            <a:off x="961135" y="5342839"/>
            <a:ext cx="1909175" cy="1149755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results: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countJobs = 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totalProfit = 127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9E847D9-CD8A-9AA4-7F2F-09AF256665D5}"/>
              </a:ext>
            </a:extLst>
          </p:cNvPr>
          <p:cNvGrpSpPr/>
          <p:nvPr/>
        </p:nvGrpSpPr>
        <p:grpSpPr>
          <a:xfrm>
            <a:off x="7567897" y="1101213"/>
            <a:ext cx="3704654" cy="1929206"/>
            <a:chOff x="7947797" y="929459"/>
            <a:chExt cx="3569966" cy="2011680"/>
          </a:xfrm>
        </p:grpSpPr>
        <p:sp>
          <p:nvSpPr>
            <p:cNvPr id="21" name="Shape 54">
              <a:extLst>
                <a:ext uri="{FF2B5EF4-FFF2-40B4-BE49-F238E27FC236}">
                  <a16:creationId xmlns:a16="http://schemas.microsoft.com/office/drawing/2014/main" id="{453E695E-397D-8605-D1AF-5D54DEE7DEFB}"/>
                </a:ext>
              </a:extLst>
            </p:cNvPr>
            <p:cNvSpPr/>
            <p:nvPr/>
          </p:nvSpPr>
          <p:spPr>
            <a:xfrm>
              <a:off x="7947797" y="929459"/>
              <a:ext cx="3569965" cy="2011680"/>
            </a:xfrm>
            <a:prstGeom prst="roundRect">
              <a:avLst>
                <a:gd name="adj" fmla="val 3636"/>
              </a:avLst>
            </a:prstGeom>
            <a:solidFill>
              <a:srgbClr val="F8FAFC"/>
            </a:solidFill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600"/>
            </a:p>
          </p:txBody>
        </p:sp>
        <p:sp>
          <p:nvSpPr>
            <p:cNvPr id="25" name="Text 55">
              <a:extLst>
                <a:ext uri="{FF2B5EF4-FFF2-40B4-BE49-F238E27FC236}">
                  <a16:creationId xmlns:a16="http://schemas.microsoft.com/office/drawing/2014/main" id="{9A7D65FE-D09D-E0D0-8D43-8249105519AB}"/>
                </a:ext>
              </a:extLst>
            </p:cNvPr>
            <p:cNvSpPr/>
            <p:nvPr/>
          </p:nvSpPr>
          <p:spPr>
            <a:xfrm>
              <a:off x="8211987" y="1082133"/>
              <a:ext cx="3305776" cy="160020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find(2) follows parent[2] = 1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So, find(2) = 1. Slot 1 is free, so place J33 there.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Then parent[1] = find(0) = 0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26585C4-63F5-5CE1-CE52-7B597668D749}"/>
              </a:ext>
            </a:extLst>
          </p:cNvPr>
          <p:cNvSpPr txBox="1"/>
          <p:nvPr/>
        </p:nvSpPr>
        <p:spPr>
          <a:xfrm>
            <a:off x="838200" y="1036433"/>
            <a:ext cx="4309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Jobs by Profit</a:t>
            </a: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AF3F8CB-85CB-D84E-851F-430C654A93CC}"/>
              </a:ext>
            </a:extLst>
          </p:cNvPr>
          <p:cNvGrpSpPr/>
          <p:nvPr/>
        </p:nvGrpSpPr>
        <p:grpSpPr>
          <a:xfrm>
            <a:off x="876299" y="3799207"/>
            <a:ext cx="4932296" cy="1127325"/>
            <a:chOff x="876299" y="3799207"/>
            <a:chExt cx="4756858" cy="1127325"/>
          </a:xfrm>
        </p:grpSpPr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5F98F0E6-17D7-A9AB-57AF-FDE78AEC2354}"/>
                </a:ext>
              </a:extLst>
            </p:cNvPr>
            <p:cNvSpPr txBox="1">
              <a:spLocks/>
            </p:cNvSpPr>
            <p:nvPr/>
          </p:nvSpPr>
          <p:spPr>
            <a:xfrm>
              <a:off x="876299" y="3799207"/>
              <a:ext cx="4756857" cy="33855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DSU parent array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Shape 57">
              <a:extLst>
                <a:ext uri="{FF2B5EF4-FFF2-40B4-BE49-F238E27FC236}">
                  <a16:creationId xmlns:a16="http://schemas.microsoft.com/office/drawing/2014/main" id="{DA5F4F72-E80D-C1BC-7E89-3F68299768EE}"/>
                </a:ext>
              </a:extLst>
            </p:cNvPr>
            <p:cNvSpPr/>
            <p:nvPr/>
          </p:nvSpPr>
          <p:spPr>
            <a:xfrm>
              <a:off x="969717" y="4149292"/>
              <a:ext cx="68580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Text 58">
              <a:extLst>
                <a:ext uri="{FF2B5EF4-FFF2-40B4-BE49-F238E27FC236}">
                  <a16:creationId xmlns:a16="http://schemas.microsoft.com/office/drawing/2014/main" id="{6A426459-EECB-6DB7-FCAA-A164507380BC}"/>
                </a:ext>
              </a:extLst>
            </p:cNvPr>
            <p:cNvSpPr/>
            <p:nvPr/>
          </p:nvSpPr>
          <p:spPr>
            <a:xfrm>
              <a:off x="988005" y="4176724"/>
              <a:ext cx="64922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Index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Shape 59">
              <a:extLst>
                <a:ext uri="{FF2B5EF4-FFF2-40B4-BE49-F238E27FC236}">
                  <a16:creationId xmlns:a16="http://schemas.microsoft.com/office/drawing/2014/main" id="{9C02C33C-C5F5-5567-172E-99DF9AD70D9A}"/>
                </a:ext>
              </a:extLst>
            </p:cNvPr>
            <p:cNvSpPr/>
            <p:nvPr/>
          </p:nvSpPr>
          <p:spPr>
            <a:xfrm>
              <a:off x="1655517" y="4149292"/>
              <a:ext cx="99441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 60">
              <a:extLst>
                <a:ext uri="{FF2B5EF4-FFF2-40B4-BE49-F238E27FC236}">
                  <a16:creationId xmlns:a16="http://schemas.microsoft.com/office/drawing/2014/main" id="{CC44D7FB-6EC9-B56C-83E6-7FF480A0D91C}"/>
                </a:ext>
              </a:extLst>
            </p:cNvPr>
            <p:cNvSpPr/>
            <p:nvPr/>
          </p:nvSpPr>
          <p:spPr>
            <a:xfrm>
              <a:off x="1673805" y="417672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Shape 61">
              <a:extLst>
                <a:ext uri="{FF2B5EF4-FFF2-40B4-BE49-F238E27FC236}">
                  <a16:creationId xmlns:a16="http://schemas.microsoft.com/office/drawing/2014/main" id="{40ADE005-FC79-374E-9601-E6BDAC4C9BA5}"/>
                </a:ext>
              </a:extLst>
            </p:cNvPr>
            <p:cNvSpPr/>
            <p:nvPr/>
          </p:nvSpPr>
          <p:spPr>
            <a:xfrm>
              <a:off x="2649927" y="4149292"/>
              <a:ext cx="99441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Text 62">
              <a:extLst>
                <a:ext uri="{FF2B5EF4-FFF2-40B4-BE49-F238E27FC236}">
                  <a16:creationId xmlns:a16="http://schemas.microsoft.com/office/drawing/2014/main" id="{E2F4351A-79CE-43BB-1213-E521B2011A3A}"/>
                </a:ext>
              </a:extLst>
            </p:cNvPr>
            <p:cNvSpPr/>
            <p:nvPr/>
          </p:nvSpPr>
          <p:spPr>
            <a:xfrm>
              <a:off x="2668215" y="417672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Shape 63">
              <a:extLst>
                <a:ext uri="{FF2B5EF4-FFF2-40B4-BE49-F238E27FC236}">
                  <a16:creationId xmlns:a16="http://schemas.microsoft.com/office/drawing/2014/main" id="{E4B75B79-E97E-02D9-180D-6CC63E194771}"/>
                </a:ext>
              </a:extLst>
            </p:cNvPr>
            <p:cNvSpPr/>
            <p:nvPr/>
          </p:nvSpPr>
          <p:spPr>
            <a:xfrm>
              <a:off x="3644337" y="4149292"/>
              <a:ext cx="99441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Text 64">
              <a:extLst>
                <a:ext uri="{FF2B5EF4-FFF2-40B4-BE49-F238E27FC236}">
                  <a16:creationId xmlns:a16="http://schemas.microsoft.com/office/drawing/2014/main" id="{D94A3E57-CD42-4A0F-8037-8C95B2050A8E}"/>
                </a:ext>
              </a:extLst>
            </p:cNvPr>
            <p:cNvSpPr/>
            <p:nvPr/>
          </p:nvSpPr>
          <p:spPr>
            <a:xfrm>
              <a:off x="3662625" y="417672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Shape 65">
              <a:extLst>
                <a:ext uri="{FF2B5EF4-FFF2-40B4-BE49-F238E27FC236}">
                  <a16:creationId xmlns:a16="http://schemas.microsoft.com/office/drawing/2014/main" id="{C4C8B3A1-53A0-D776-F1F9-E2D75D418D90}"/>
                </a:ext>
              </a:extLst>
            </p:cNvPr>
            <p:cNvSpPr/>
            <p:nvPr/>
          </p:nvSpPr>
          <p:spPr>
            <a:xfrm>
              <a:off x="4638747" y="4149292"/>
              <a:ext cx="99441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Text 66">
              <a:extLst>
                <a:ext uri="{FF2B5EF4-FFF2-40B4-BE49-F238E27FC236}">
                  <a16:creationId xmlns:a16="http://schemas.microsoft.com/office/drawing/2014/main" id="{7887C969-20AD-5582-D4B4-DC69C8C886B7}"/>
                </a:ext>
              </a:extLst>
            </p:cNvPr>
            <p:cNvSpPr/>
            <p:nvPr/>
          </p:nvSpPr>
          <p:spPr>
            <a:xfrm>
              <a:off x="4657035" y="417672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Shape 67">
              <a:extLst>
                <a:ext uri="{FF2B5EF4-FFF2-40B4-BE49-F238E27FC236}">
                  <a16:creationId xmlns:a16="http://schemas.microsoft.com/office/drawing/2014/main" id="{8DB945DE-5B09-D227-D73C-F81F63782E31}"/>
                </a:ext>
              </a:extLst>
            </p:cNvPr>
            <p:cNvSpPr/>
            <p:nvPr/>
          </p:nvSpPr>
          <p:spPr>
            <a:xfrm>
              <a:off x="969717" y="4537912"/>
              <a:ext cx="68580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 68">
              <a:extLst>
                <a:ext uri="{FF2B5EF4-FFF2-40B4-BE49-F238E27FC236}">
                  <a16:creationId xmlns:a16="http://schemas.microsoft.com/office/drawing/2014/main" id="{EE4DB08D-C492-DDE9-F544-6CCEFC1340B7}"/>
                </a:ext>
              </a:extLst>
            </p:cNvPr>
            <p:cNvSpPr/>
            <p:nvPr/>
          </p:nvSpPr>
          <p:spPr>
            <a:xfrm>
              <a:off x="988005" y="4565344"/>
              <a:ext cx="64922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Parent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Shape 69">
              <a:extLst>
                <a:ext uri="{FF2B5EF4-FFF2-40B4-BE49-F238E27FC236}">
                  <a16:creationId xmlns:a16="http://schemas.microsoft.com/office/drawing/2014/main" id="{B35A5C74-934F-8624-C7B6-17AD88840FEB}"/>
                </a:ext>
              </a:extLst>
            </p:cNvPr>
            <p:cNvSpPr/>
            <p:nvPr/>
          </p:nvSpPr>
          <p:spPr>
            <a:xfrm>
              <a:off x="1655517" y="4537912"/>
              <a:ext cx="994410" cy="388620"/>
            </a:xfrm>
            <a:prstGeom prst="rect">
              <a:avLst/>
            </a:prstGeom>
            <a:solidFill>
              <a:srgbClr val="FFFFFF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 70">
              <a:extLst>
                <a:ext uri="{FF2B5EF4-FFF2-40B4-BE49-F238E27FC236}">
                  <a16:creationId xmlns:a16="http://schemas.microsoft.com/office/drawing/2014/main" id="{09AB78E8-FC6B-AB39-100D-ECC90D12F31F}"/>
                </a:ext>
              </a:extLst>
            </p:cNvPr>
            <p:cNvSpPr/>
            <p:nvPr/>
          </p:nvSpPr>
          <p:spPr>
            <a:xfrm>
              <a:off x="1673805" y="456534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Shape 71">
              <a:extLst>
                <a:ext uri="{FF2B5EF4-FFF2-40B4-BE49-F238E27FC236}">
                  <a16:creationId xmlns:a16="http://schemas.microsoft.com/office/drawing/2014/main" id="{D44B9787-14B0-40CF-0419-827887D6E4DD}"/>
                </a:ext>
              </a:extLst>
            </p:cNvPr>
            <p:cNvSpPr/>
            <p:nvPr/>
          </p:nvSpPr>
          <p:spPr>
            <a:xfrm>
              <a:off x="2649927" y="4537912"/>
              <a:ext cx="994410" cy="388620"/>
            </a:xfrm>
            <a:prstGeom prst="rect">
              <a:avLst/>
            </a:prstGeom>
            <a:solidFill>
              <a:srgbClr val="FFEDD5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Text 72">
              <a:extLst>
                <a:ext uri="{FF2B5EF4-FFF2-40B4-BE49-F238E27FC236}">
                  <a16:creationId xmlns:a16="http://schemas.microsoft.com/office/drawing/2014/main" id="{0D870AD0-9B8D-933A-DAAF-6C84EDFD0D24}"/>
                </a:ext>
              </a:extLst>
            </p:cNvPr>
            <p:cNvSpPr/>
            <p:nvPr/>
          </p:nvSpPr>
          <p:spPr>
            <a:xfrm>
              <a:off x="2668215" y="456534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Shape 73">
              <a:extLst>
                <a:ext uri="{FF2B5EF4-FFF2-40B4-BE49-F238E27FC236}">
                  <a16:creationId xmlns:a16="http://schemas.microsoft.com/office/drawing/2014/main" id="{7A3BBA83-1685-7805-155A-15A4511C04FA}"/>
                </a:ext>
              </a:extLst>
            </p:cNvPr>
            <p:cNvSpPr/>
            <p:nvPr/>
          </p:nvSpPr>
          <p:spPr>
            <a:xfrm>
              <a:off x="3644337" y="4537912"/>
              <a:ext cx="994410" cy="388620"/>
            </a:xfrm>
            <a:prstGeom prst="rect">
              <a:avLst/>
            </a:prstGeom>
            <a:noFill/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Text 74">
              <a:extLst>
                <a:ext uri="{FF2B5EF4-FFF2-40B4-BE49-F238E27FC236}">
                  <a16:creationId xmlns:a16="http://schemas.microsoft.com/office/drawing/2014/main" id="{D1EF69B5-6C5F-A2C1-1FD6-D3214A7D7024}"/>
                </a:ext>
              </a:extLst>
            </p:cNvPr>
            <p:cNvSpPr/>
            <p:nvPr/>
          </p:nvSpPr>
          <p:spPr>
            <a:xfrm>
              <a:off x="3662625" y="456534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Shape 75">
              <a:extLst>
                <a:ext uri="{FF2B5EF4-FFF2-40B4-BE49-F238E27FC236}">
                  <a16:creationId xmlns:a16="http://schemas.microsoft.com/office/drawing/2014/main" id="{B4D66E3C-788C-9AB8-F588-4BDEC58C3C88}"/>
                </a:ext>
              </a:extLst>
            </p:cNvPr>
            <p:cNvSpPr/>
            <p:nvPr/>
          </p:nvSpPr>
          <p:spPr>
            <a:xfrm>
              <a:off x="4638747" y="4537912"/>
              <a:ext cx="994410" cy="388620"/>
            </a:xfrm>
            <a:prstGeom prst="rect">
              <a:avLst/>
            </a:prstGeom>
            <a:solidFill>
              <a:srgbClr val="FFFFFF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Text 76">
              <a:extLst>
                <a:ext uri="{FF2B5EF4-FFF2-40B4-BE49-F238E27FC236}">
                  <a16:creationId xmlns:a16="http://schemas.microsoft.com/office/drawing/2014/main" id="{0C956908-43BA-A5B0-6C14-F9F53FBD9CA8}"/>
                </a:ext>
              </a:extLst>
            </p:cNvPr>
            <p:cNvSpPr/>
            <p:nvPr/>
          </p:nvSpPr>
          <p:spPr>
            <a:xfrm>
              <a:off x="4657035" y="456534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1" name="Text 77">
            <a:extLst>
              <a:ext uri="{FF2B5EF4-FFF2-40B4-BE49-F238E27FC236}">
                <a16:creationId xmlns:a16="http://schemas.microsoft.com/office/drawing/2014/main" id="{68D44BD3-4F9D-FAD4-F9B7-131C918CA8E2}"/>
              </a:ext>
            </a:extLst>
          </p:cNvPr>
          <p:cNvSpPr/>
          <p:nvPr/>
        </p:nvSpPr>
        <p:spPr>
          <a:xfrm>
            <a:off x="6677023" y="3940233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schedule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3A18684-4A04-9026-5B49-3F0EBEECDDF3}"/>
              </a:ext>
            </a:extLst>
          </p:cNvPr>
          <p:cNvGrpSpPr/>
          <p:nvPr/>
        </p:nvGrpSpPr>
        <p:grpSpPr>
          <a:xfrm>
            <a:off x="6677023" y="4311432"/>
            <a:ext cx="4645404" cy="767216"/>
            <a:chOff x="5072463" y="3936593"/>
            <a:chExt cx="5440680" cy="989939"/>
          </a:xfrm>
        </p:grpSpPr>
        <p:sp>
          <p:nvSpPr>
            <p:cNvPr id="115" name="Text 78">
              <a:extLst>
                <a:ext uri="{FF2B5EF4-FFF2-40B4-BE49-F238E27FC236}">
                  <a16:creationId xmlns:a16="http://schemas.microsoft.com/office/drawing/2014/main" id="{A8C34CB9-B02C-082B-2C40-3A071215EC20}"/>
                </a:ext>
              </a:extLst>
            </p:cNvPr>
            <p:cNvSpPr/>
            <p:nvPr/>
          </p:nvSpPr>
          <p:spPr>
            <a:xfrm>
              <a:off x="5072463" y="3948124"/>
              <a:ext cx="17647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#1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Shape 79">
              <a:extLst>
                <a:ext uri="{FF2B5EF4-FFF2-40B4-BE49-F238E27FC236}">
                  <a16:creationId xmlns:a16="http://schemas.microsoft.com/office/drawing/2014/main" id="{9CE3B05D-4BD5-4DA7-96ED-4624B95B73E4}"/>
                </a:ext>
              </a:extLst>
            </p:cNvPr>
            <p:cNvSpPr/>
            <p:nvPr/>
          </p:nvSpPr>
          <p:spPr>
            <a:xfrm>
              <a:off x="5072463" y="4240732"/>
              <a:ext cx="1764792" cy="685800"/>
            </a:xfrm>
            <a:prstGeom prst="roundRect">
              <a:avLst>
                <a:gd name="adj" fmla="val 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397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Text 80">
              <a:extLst>
                <a:ext uri="{FF2B5EF4-FFF2-40B4-BE49-F238E27FC236}">
                  <a16:creationId xmlns:a16="http://schemas.microsoft.com/office/drawing/2014/main" id="{B0FB86A0-F960-C174-5057-363082229C9F}"/>
                </a:ext>
              </a:extLst>
            </p:cNvPr>
            <p:cNvSpPr/>
            <p:nvPr/>
          </p:nvSpPr>
          <p:spPr>
            <a:xfrm>
              <a:off x="5090751" y="4464760"/>
              <a:ext cx="17282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J3</a:t>
              </a:r>
            </a:p>
          </p:txBody>
        </p:sp>
        <p:sp>
          <p:nvSpPr>
            <p:cNvPr id="121" name="Text 81">
              <a:extLst>
                <a:ext uri="{FF2B5EF4-FFF2-40B4-BE49-F238E27FC236}">
                  <a16:creationId xmlns:a16="http://schemas.microsoft.com/office/drawing/2014/main" id="{D14968CA-EA7F-26C2-E622-0F8B6C892B6F}"/>
                </a:ext>
              </a:extLst>
            </p:cNvPr>
            <p:cNvSpPr/>
            <p:nvPr/>
          </p:nvSpPr>
          <p:spPr>
            <a:xfrm>
              <a:off x="6910407" y="3948124"/>
              <a:ext cx="17647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#2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Shape 82">
              <a:extLst>
                <a:ext uri="{FF2B5EF4-FFF2-40B4-BE49-F238E27FC236}">
                  <a16:creationId xmlns:a16="http://schemas.microsoft.com/office/drawing/2014/main" id="{2A3A0DE4-AA6D-E2ED-96B7-B568078D4F82}"/>
                </a:ext>
              </a:extLst>
            </p:cNvPr>
            <p:cNvSpPr/>
            <p:nvPr/>
          </p:nvSpPr>
          <p:spPr>
            <a:xfrm>
              <a:off x="6910407" y="4240732"/>
              <a:ext cx="1764792" cy="685800"/>
            </a:xfrm>
            <a:prstGeom prst="roundRect">
              <a:avLst>
                <a:gd name="adj" fmla="val 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397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Text 83">
              <a:extLst>
                <a:ext uri="{FF2B5EF4-FFF2-40B4-BE49-F238E27FC236}">
                  <a16:creationId xmlns:a16="http://schemas.microsoft.com/office/drawing/2014/main" id="{4563E2C2-110C-A95E-6391-21246CC399C1}"/>
                </a:ext>
              </a:extLst>
            </p:cNvPr>
            <p:cNvSpPr/>
            <p:nvPr/>
          </p:nvSpPr>
          <p:spPr>
            <a:xfrm>
              <a:off x="6928695" y="4464760"/>
              <a:ext cx="17282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J1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Text 84">
              <a:extLst>
                <a:ext uri="{FF2B5EF4-FFF2-40B4-BE49-F238E27FC236}">
                  <a16:creationId xmlns:a16="http://schemas.microsoft.com/office/drawing/2014/main" id="{DFE0FC81-C693-FBA4-021C-0D09881B9E4D}"/>
                </a:ext>
              </a:extLst>
            </p:cNvPr>
            <p:cNvSpPr/>
            <p:nvPr/>
          </p:nvSpPr>
          <p:spPr>
            <a:xfrm>
              <a:off x="8730063" y="3936593"/>
              <a:ext cx="17647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#3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Shape 85">
              <a:extLst>
                <a:ext uri="{FF2B5EF4-FFF2-40B4-BE49-F238E27FC236}">
                  <a16:creationId xmlns:a16="http://schemas.microsoft.com/office/drawing/2014/main" id="{C2886162-34DE-E660-BBA3-C310683B8699}"/>
                </a:ext>
              </a:extLst>
            </p:cNvPr>
            <p:cNvSpPr/>
            <p:nvPr/>
          </p:nvSpPr>
          <p:spPr>
            <a:xfrm>
              <a:off x="8748351" y="4240732"/>
              <a:ext cx="1764792" cy="6858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397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31" name="Text 86">
              <a:extLst>
                <a:ext uri="{FF2B5EF4-FFF2-40B4-BE49-F238E27FC236}">
                  <a16:creationId xmlns:a16="http://schemas.microsoft.com/office/drawing/2014/main" id="{22270D77-0995-88A5-65D1-8FF5926A9D8B}"/>
                </a:ext>
              </a:extLst>
            </p:cNvPr>
            <p:cNvSpPr/>
            <p:nvPr/>
          </p:nvSpPr>
          <p:spPr>
            <a:xfrm>
              <a:off x="8766639" y="4464760"/>
              <a:ext cx="17282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D07CF2-7922-AC6B-92F5-A8E41E56F743}"/>
              </a:ext>
            </a:extLst>
          </p:cNvPr>
          <p:cNvCxnSpPr/>
          <p:nvPr/>
        </p:nvCxnSpPr>
        <p:spPr>
          <a:xfrm>
            <a:off x="917856" y="940751"/>
            <a:ext cx="1035261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532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1D90F-E873-1584-45C5-F13A9176F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363-049B-D745-AE03-A0803695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465"/>
            <a:ext cx="8582024" cy="52070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#1 (Cont.)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382CB-7EF3-CC73-4453-89AEC57EE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02" y="1110726"/>
            <a:ext cx="2900838" cy="2382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#3: Schedule Jobs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J4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J4 has: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ADBE726-A0BE-2741-1F14-655AB8A252D1}"/>
              </a:ext>
            </a:extLst>
          </p:cNvPr>
          <p:cNvGraphicFramePr>
            <a:graphicFrameLocks noGrp="1"/>
          </p:cNvGraphicFramePr>
          <p:nvPr/>
        </p:nvGraphicFramePr>
        <p:xfrm>
          <a:off x="921135" y="1390377"/>
          <a:ext cx="3567736" cy="2103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91934">
                  <a:extLst>
                    <a:ext uri="{9D8B030D-6E8A-4147-A177-3AD203B41FA5}">
                      <a16:colId xmlns:a16="http://schemas.microsoft.com/office/drawing/2014/main" val="741510827"/>
                    </a:ext>
                  </a:extLst>
                </a:gridCol>
                <a:gridCol w="891934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891934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891934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0F4DECB9-71A6-F74E-21D4-79756F89980E}"/>
              </a:ext>
            </a:extLst>
          </p:cNvPr>
          <p:cNvGrpSpPr/>
          <p:nvPr/>
        </p:nvGrpSpPr>
        <p:grpSpPr>
          <a:xfrm>
            <a:off x="5059780" y="2129750"/>
            <a:ext cx="1954670" cy="664028"/>
            <a:chOff x="922081" y="2310222"/>
            <a:chExt cx="1954670" cy="6640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362B27-BACC-6423-1CFE-651C9208CF7A}"/>
                </a:ext>
              </a:extLst>
            </p:cNvPr>
            <p:cNvSpPr/>
            <p:nvPr/>
          </p:nvSpPr>
          <p:spPr>
            <a:xfrm>
              <a:off x="922081" y="2310222"/>
              <a:ext cx="76200" cy="664028"/>
            </a:xfrm>
            <a:prstGeom prst="rect">
              <a:avLst/>
            </a:prstGeom>
            <a:solidFill>
              <a:srgbClr val="EE0000"/>
            </a:solidFill>
            <a:ln w="9525">
              <a:solidFill>
                <a:srgbClr val="E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83878E7-2441-AA42-B2F8-7DC825A9BF8B}"/>
                </a:ext>
              </a:extLst>
            </p:cNvPr>
            <p:cNvSpPr/>
            <p:nvPr/>
          </p:nvSpPr>
          <p:spPr>
            <a:xfrm>
              <a:off x="1010964" y="2310222"/>
              <a:ext cx="1865787" cy="664028"/>
            </a:xfrm>
            <a:prstGeom prst="rect">
              <a:avLst/>
            </a:prstGeom>
            <a:solidFill>
              <a:srgbClr val="FF5050">
                <a:alpha val="32157"/>
              </a:srgbClr>
            </a:solidFill>
            <a:ln w="3175">
              <a:solidFill>
                <a:srgbClr val="E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deadline = 1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profit = 25</a:t>
              </a: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1F9A552-2544-07CF-C794-C12F2F42DD91}"/>
              </a:ext>
            </a:extLst>
          </p:cNvPr>
          <p:cNvSpPr txBox="1">
            <a:spLocks/>
          </p:cNvSpPr>
          <p:nvPr/>
        </p:nvSpPr>
        <p:spPr>
          <a:xfrm>
            <a:off x="961135" y="5342839"/>
            <a:ext cx="1909175" cy="1149755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results: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countJobs = 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totalProfit = 127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847B845-1898-979E-723C-D4019B638732}"/>
              </a:ext>
            </a:extLst>
          </p:cNvPr>
          <p:cNvGrpSpPr/>
          <p:nvPr/>
        </p:nvGrpSpPr>
        <p:grpSpPr>
          <a:xfrm>
            <a:off x="7567897" y="1101213"/>
            <a:ext cx="3704654" cy="1929206"/>
            <a:chOff x="7947797" y="929459"/>
            <a:chExt cx="3569966" cy="2011680"/>
          </a:xfrm>
        </p:grpSpPr>
        <p:sp>
          <p:nvSpPr>
            <p:cNvPr id="21" name="Shape 54">
              <a:extLst>
                <a:ext uri="{FF2B5EF4-FFF2-40B4-BE49-F238E27FC236}">
                  <a16:creationId xmlns:a16="http://schemas.microsoft.com/office/drawing/2014/main" id="{3DAC17AA-BF94-D7D3-03D6-E867C3B1B6C4}"/>
                </a:ext>
              </a:extLst>
            </p:cNvPr>
            <p:cNvSpPr/>
            <p:nvPr/>
          </p:nvSpPr>
          <p:spPr>
            <a:xfrm>
              <a:off x="7947797" y="929459"/>
              <a:ext cx="3569965" cy="2011680"/>
            </a:xfrm>
            <a:prstGeom prst="roundRect">
              <a:avLst>
                <a:gd name="adj" fmla="val 3636"/>
              </a:avLst>
            </a:prstGeom>
            <a:solidFill>
              <a:srgbClr val="F8FAFC"/>
            </a:solidFill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600"/>
            </a:p>
          </p:txBody>
        </p:sp>
        <p:sp>
          <p:nvSpPr>
            <p:cNvPr id="25" name="Text 55">
              <a:extLst>
                <a:ext uri="{FF2B5EF4-FFF2-40B4-BE49-F238E27FC236}">
                  <a16:creationId xmlns:a16="http://schemas.microsoft.com/office/drawing/2014/main" id="{3393EE38-27F1-4BC6-C640-88EC09DF428F}"/>
                </a:ext>
              </a:extLst>
            </p:cNvPr>
            <p:cNvSpPr/>
            <p:nvPr/>
          </p:nvSpPr>
          <p:spPr>
            <a:xfrm>
              <a:off x="8211987" y="1082133"/>
              <a:ext cx="3305776" cy="160020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find(1) = 0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0 means no available slot before the deadline.</a:t>
              </a:r>
            </a:p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 J4 cannot be scheduled and is skipped.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486C93D-E0B9-8817-FAEF-F2AA919ACBCE}"/>
              </a:ext>
            </a:extLst>
          </p:cNvPr>
          <p:cNvSpPr txBox="1"/>
          <p:nvPr/>
        </p:nvSpPr>
        <p:spPr>
          <a:xfrm>
            <a:off x="838200" y="1036433"/>
            <a:ext cx="4309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Jobs by Profit</a:t>
            </a: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33FFD9B1-616E-BC5E-0721-F5D4B679A6B5}"/>
              </a:ext>
            </a:extLst>
          </p:cNvPr>
          <p:cNvGrpSpPr/>
          <p:nvPr/>
        </p:nvGrpSpPr>
        <p:grpSpPr>
          <a:xfrm>
            <a:off x="876299" y="3799207"/>
            <a:ext cx="4932296" cy="1127325"/>
            <a:chOff x="876299" y="3799207"/>
            <a:chExt cx="4756858" cy="1127325"/>
          </a:xfrm>
        </p:grpSpPr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5C4AB74C-B525-2EF4-6D1B-0C7FC8D36CB6}"/>
                </a:ext>
              </a:extLst>
            </p:cNvPr>
            <p:cNvSpPr txBox="1">
              <a:spLocks/>
            </p:cNvSpPr>
            <p:nvPr/>
          </p:nvSpPr>
          <p:spPr>
            <a:xfrm>
              <a:off x="876299" y="3799207"/>
              <a:ext cx="4756857" cy="33855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DSU parent array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Shape 57">
              <a:extLst>
                <a:ext uri="{FF2B5EF4-FFF2-40B4-BE49-F238E27FC236}">
                  <a16:creationId xmlns:a16="http://schemas.microsoft.com/office/drawing/2014/main" id="{5A6C5D22-A143-A5D6-DFB5-0A841031A40A}"/>
                </a:ext>
              </a:extLst>
            </p:cNvPr>
            <p:cNvSpPr/>
            <p:nvPr/>
          </p:nvSpPr>
          <p:spPr>
            <a:xfrm>
              <a:off x="969717" y="4149292"/>
              <a:ext cx="68580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Text 58">
              <a:extLst>
                <a:ext uri="{FF2B5EF4-FFF2-40B4-BE49-F238E27FC236}">
                  <a16:creationId xmlns:a16="http://schemas.microsoft.com/office/drawing/2014/main" id="{F094A5CF-BB36-4A9F-7171-098F64BEBB83}"/>
                </a:ext>
              </a:extLst>
            </p:cNvPr>
            <p:cNvSpPr/>
            <p:nvPr/>
          </p:nvSpPr>
          <p:spPr>
            <a:xfrm>
              <a:off x="988005" y="4176724"/>
              <a:ext cx="64922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Index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Shape 59">
              <a:extLst>
                <a:ext uri="{FF2B5EF4-FFF2-40B4-BE49-F238E27FC236}">
                  <a16:creationId xmlns:a16="http://schemas.microsoft.com/office/drawing/2014/main" id="{D59F01C9-C9B2-642C-7B59-81124992F1D5}"/>
                </a:ext>
              </a:extLst>
            </p:cNvPr>
            <p:cNvSpPr/>
            <p:nvPr/>
          </p:nvSpPr>
          <p:spPr>
            <a:xfrm>
              <a:off x="1655517" y="4149292"/>
              <a:ext cx="99441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 60">
              <a:extLst>
                <a:ext uri="{FF2B5EF4-FFF2-40B4-BE49-F238E27FC236}">
                  <a16:creationId xmlns:a16="http://schemas.microsoft.com/office/drawing/2014/main" id="{00C7FC61-F122-9CD4-8600-F7B859925900}"/>
                </a:ext>
              </a:extLst>
            </p:cNvPr>
            <p:cNvSpPr/>
            <p:nvPr/>
          </p:nvSpPr>
          <p:spPr>
            <a:xfrm>
              <a:off x="1673805" y="417672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Shape 61">
              <a:extLst>
                <a:ext uri="{FF2B5EF4-FFF2-40B4-BE49-F238E27FC236}">
                  <a16:creationId xmlns:a16="http://schemas.microsoft.com/office/drawing/2014/main" id="{48D9B742-F475-B376-A188-C96B084291C4}"/>
                </a:ext>
              </a:extLst>
            </p:cNvPr>
            <p:cNvSpPr/>
            <p:nvPr/>
          </p:nvSpPr>
          <p:spPr>
            <a:xfrm>
              <a:off x="2649927" y="4149292"/>
              <a:ext cx="99441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Text 62">
              <a:extLst>
                <a:ext uri="{FF2B5EF4-FFF2-40B4-BE49-F238E27FC236}">
                  <a16:creationId xmlns:a16="http://schemas.microsoft.com/office/drawing/2014/main" id="{FE040C66-2795-2640-C075-466468DB4F0D}"/>
                </a:ext>
              </a:extLst>
            </p:cNvPr>
            <p:cNvSpPr/>
            <p:nvPr/>
          </p:nvSpPr>
          <p:spPr>
            <a:xfrm>
              <a:off x="2668215" y="417672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Shape 63">
              <a:extLst>
                <a:ext uri="{FF2B5EF4-FFF2-40B4-BE49-F238E27FC236}">
                  <a16:creationId xmlns:a16="http://schemas.microsoft.com/office/drawing/2014/main" id="{177E1D08-6A6A-4DAD-9C7F-EF5B0F2F814A}"/>
                </a:ext>
              </a:extLst>
            </p:cNvPr>
            <p:cNvSpPr/>
            <p:nvPr/>
          </p:nvSpPr>
          <p:spPr>
            <a:xfrm>
              <a:off x="3644337" y="4149292"/>
              <a:ext cx="99441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Text 64">
              <a:extLst>
                <a:ext uri="{FF2B5EF4-FFF2-40B4-BE49-F238E27FC236}">
                  <a16:creationId xmlns:a16="http://schemas.microsoft.com/office/drawing/2014/main" id="{4F0F6A7A-86FB-B3CE-EDA1-BD5AFBDA0551}"/>
                </a:ext>
              </a:extLst>
            </p:cNvPr>
            <p:cNvSpPr/>
            <p:nvPr/>
          </p:nvSpPr>
          <p:spPr>
            <a:xfrm>
              <a:off x="3662625" y="417672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Shape 65">
              <a:extLst>
                <a:ext uri="{FF2B5EF4-FFF2-40B4-BE49-F238E27FC236}">
                  <a16:creationId xmlns:a16="http://schemas.microsoft.com/office/drawing/2014/main" id="{683D2BC3-24DF-AC64-F9BE-B02BCB412C36}"/>
                </a:ext>
              </a:extLst>
            </p:cNvPr>
            <p:cNvSpPr/>
            <p:nvPr/>
          </p:nvSpPr>
          <p:spPr>
            <a:xfrm>
              <a:off x="4638747" y="4149292"/>
              <a:ext cx="99441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Text 66">
              <a:extLst>
                <a:ext uri="{FF2B5EF4-FFF2-40B4-BE49-F238E27FC236}">
                  <a16:creationId xmlns:a16="http://schemas.microsoft.com/office/drawing/2014/main" id="{CF4A8582-3E5B-6D30-AE99-B542C05B9BC6}"/>
                </a:ext>
              </a:extLst>
            </p:cNvPr>
            <p:cNvSpPr/>
            <p:nvPr/>
          </p:nvSpPr>
          <p:spPr>
            <a:xfrm>
              <a:off x="4657035" y="417672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Shape 67">
              <a:extLst>
                <a:ext uri="{FF2B5EF4-FFF2-40B4-BE49-F238E27FC236}">
                  <a16:creationId xmlns:a16="http://schemas.microsoft.com/office/drawing/2014/main" id="{02A1C9F3-FCA9-DE32-23CF-2954DE30107F}"/>
                </a:ext>
              </a:extLst>
            </p:cNvPr>
            <p:cNvSpPr/>
            <p:nvPr/>
          </p:nvSpPr>
          <p:spPr>
            <a:xfrm>
              <a:off x="969717" y="4537912"/>
              <a:ext cx="68580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 68">
              <a:extLst>
                <a:ext uri="{FF2B5EF4-FFF2-40B4-BE49-F238E27FC236}">
                  <a16:creationId xmlns:a16="http://schemas.microsoft.com/office/drawing/2014/main" id="{151E7E08-FF29-43F1-E752-8E7FB9AB4597}"/>
                </a:ext>
              </a:extLst>
            </p:cNvPr>
            <p:cNvSpPr/>
            <p:nvPr/>
          </p:nvSpPr>
          <p:spPr>
            <a:xfrm>
              <a:off x="988005" y="4565344"/>
              <a:ext cx="64922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Parent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Shape 69">
              <a:extLst>
                <a:ext uri="{FF2B5EF4-FFF2-40B4-BE49-F238E27FC236}">
                  <a16:creationId xmlns:a16="http://schemas.microsoft.com/office/drawing/2014/main" id="{BE037871-9CBE-1CB8-A48E-028F03988523}"/>
                </a:ext>
              </a:extLst>
            </p:cNvPr>
            <p:cNvSpPr/>
            <p:nvPr/>
          </p:nvSpPr>
          <p:spPr>
            <a:xfrm>
              <a:off x="1655517" y="4537912"/>
              <a:ext cx="994410" cy="388620"/>
            </a:xfrm>
            <a:prstGeom prst="rect">
              <a:avLst/>
            </a:prstGeom>
            <a:solidFill>
              <a:srgbClr val="FFFFFF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 70">
              <a:extLst>
                <a:ext uri="{FF2B5EF4-FFF2-40B4-BE49-F238E27FC236}">
                  <a16:creationId xmlns:a16="http://schemas.microsoft.com/office/drawing/2014/main" id="{98B7F41A-E8D8-B8FA-487E-2C8E0DCF89AE}"/>
                </a:ext>
              </a:extLst>
            </p:cNvPr>
            <p:cNvSpPr/>
            <p:nvPr/>
          </p:nvSpPr>
          <p:spPr>
            <a:xfrm>
              <a:off x="1673805" y="456534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Shape 71">
              <a:extLst>
                <a:ext uri="{FF2B5EF4-FFF2-40B4-BE49-F238E27FC236}">
                  <a16:creationId xmlns:a16="http://schemas.microsoft.com/office/drawing/2014/main" id="{F6924DCF-EF68-84F2-F169-AB9CD8557B41}"/>
                </a:ext>
              </a:extLst>
            </p:cNvPr>
            <p:cNvSpPr/>
            <p:nvPr/>
          </p:nvSpPr>
          <p:spPr>
            <a:xfrm>
              <a:off x="2649927" y="4537912"/>
              <a:ext cx="994410" cy="388620"/>
            </a:xfrm>
            <a:prstGeom prst="rect">
              <a:avLst/>
            </a:prstGeom>
            <a:solidFill>
              <a:srgbClr val="FFEDD5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Text 72">
              <a:extLst>
                <a:ext uri="{FF2B5EF4-FFF2-40B4-BE49-F238E27FC236}">
                  <a16:creationId xmlns:a16="http://schemas.microsoft.com/office/drawing/2014/main" id="{BADFCF56-A55D-CA21-1A0A-C40D3C520CCA}"/>
                </a:ext>
              </a:extLst>
            </p:cNvPr>
            <p:cNvSpPr/>
            <p:nvPr/>
          </p:nvSpPr>
          <p:spPr>
            <a:xfrm>
              <a:off x="2668215" y="456534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Shape 73">
              <a:extLst>
                <a:ext uri="{FF2B5EF4-FFF2-40B4-BE49-F238E27FC236}">
                  <a16:creationId xmlns:a16="http://schemas.microsoft.com/office/drawing/2014/main" id="{BCE2665A-B673-5A70-2389-8DFF7E331E61}"/>
                </a:ext>
              </a:extLst>
            </p:cNvPr>
            <p:cNvSpPr/>
            <p:nvPr/>
          </p:nvSpPr>
          <p:spPr>
            <a:xfrm>
              <a:off x="3644337" y="4537912"/>
              <a:ext cx="994410" cy="388620"/>
            </a:xfrm>
            <a:prstGeom prst="rect">
              <a:avLst/>
            </a:prstGeom>
            <a:noFill/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Text 74">
              <a:extLst>
                <a:ext uri="{FF2B5EF4-FFF2-40B4-BE49-F238E27FC236}">
                  <a16:creationId xmlns:a16="http://schemas.microsoft.com/office/drawing/2014/main" id="{46201E44-DF45-AC13-F4BC-4AEAD0BBF471}"/>
                </a:ext>
              </a:extLst>
            </p:cNvPr>
            <p:cNvSpPr/>
            <p:nvPr/>
          </p:nvSpPr>
          <p:spPr>
            <a:xfrm>
              <a:off x="3662625" y="456534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Shape 75">
              <a:extLst>
                <a:ext uri="{FF2B5EF4-FFF2-40B4-BE49-F238E27FC236}">
                  <a16:creationId xmlns:a16="http://schemas.microsoft.com/office/drawing/2014/main" id="{498582EC-1ED3-96F6-E48D-24E317E0DCE5}"/>
                </a:ext>
              </a:extLst>
            </p:cNvPr>
            <p:cNvSpPr/>
            <p:nvPr/>
          </p:nvSpPr>
          <p:spPr>
            <a:xfrm>
              <a:off x="4638747" y="4537912"/>
              <a:ext cx="994410" cy="388620"/>
            </a:xfrm>
            <a:prstGeom prst="rect">
              <a:avLst/>
            </a:prstGeom>
            <a:solidFill>
              <a:srgbClr val="FFFFFF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Text 76">
              <a:extLst>
                <a:ext uri="{FF2B5EF4-FFF2-40B4-BE49-F238E27FC236}">
                  <a16:creationId xmlns:a16="http://schemas.microsoft.com/office/drawing/2014/main" id="{CD38A057-0AC6-3F7D-90C6-81300BC7E79A}"/>
                </a:ext>
              </a:extLst>
            </p:cNvPr>
            <p:cNvSpPr/>
            <p:nvPr/>
          </p:nvSpPr>
          <p:spPr>
            <a:xfrm>
              <a:off x="4657035" y="456534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1" name="Text 77">
            <a:extLst>
              <a:ext uri="{FF2B5EF4-FFF2-40B4-BE49-F238E27FC236}">
                <a16:creationId xmlns:a16="http://schemas.microsoft.com/office/drawing/2014/main" id="{96DAE7BF-2193-B57D-ADB6-E2209F1BDA73}"/>
              </a:ext>
            </a:extLst>
          </p:cNvPr>
          <p:cNvSpPr/>
          <p:nvPr/>
        </p:nvSpPr>
        <p:spPr>
          <a:xfrm>
            <a:off x="6677023" y="3940233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schedule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DA4BEA86-B3CF-08E7-5A95-106DF7288CCE}"/>
              </a:ext>
            </a:extLst>
          </p:cNvPr>
          <p:cNvGrpSpPr/>
          <p:nvPr/>
        </p:nvGrpSpPr>
        <p:grpSpPr>
          <a:xfrm>
            <a:off x="6677023" y="4311432"/>
            <a:ext cx="4645404" cy="615100"/>
            <a:chOff x="5072463" y="3936593"/>
            <a:chExt cx="5440680" cy="989939"/>
          </a:xfrm>
        </p:grpSpPr>
        <p:sp>
          <p:nvSpPr>
            <p:cNvPr id="115" name="Text 78">
              <a:extLst>
                <a:ext uri="{FF2B5EF4-FFF2-40B4-BE49-F238E27FC236}">
                  <a16:creationId xmlns:a16="http://schemas.microsoft.com/office/drawing/2014/main" id="{E32ED7DA-D2D9-087C-7702-D4536A7AE3D3}"/>
                </a:ext>
              </a:extLst>
            </p:cNvPr>
            <p:cNvSpPr/>
            <p:nvPr/>
          </p:nvSpPr>
          <p:spPr>
            <a:xfrm>
              <a:off x="5072463" y="3948124"/>
              <a:ext cx="17647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#1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Shape 79">
              <a:extLst>
                <a:ext uri="{FF2B5EF4-FFF2-40B4-BE49-F238E27FC236}">
                  <a16:creationId xmlns:a16="http://schemas.microsoft.com/office/drawing/2014/main" id="{920B570B-DBC8-7AEF-33FB-5460AEF2EB9C}"/>
                </a:ext>
              </a:extLst>
            </p:cNvPr>
            <p:cNvSpPr/>
            <p:nvPr/>
          </p:nvSpPr>
          <p:spPr>
            <a:xfrm>
              <a:off x="5072463" y="4240732"/>
              <a:ext cx="1764792" cy="685800"/>
            </a:xfrm>
            <a:prstGeom prst="roundRect">
              <a:avLst>
                <a:gd name="adj" fmla="val 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397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Text 80">
              <a:extLst>
                <a:ext uri="{FF2B5EF4-FFF2-40B4-BE49-F238E27FC236}">
                  <a16:creationId xmlns:a16="http://schemas.microsoft.com/office/drawing/2014/main" id="{D56F34F3-5A4B-F6A1-1564-617B660FF5BF}"/>
                </a:ext>
              </a:extLst>
            </p:cNvPr>
            <p:cNvSpPr/>
            <p:nvPr/>
          </p:nvSpPr>
          <p:spPr>
            <a:xfrm>
              <a:off x="5090751" y="4464760"/>
              <a:ext cx="17282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J3</a:t>
              </a:r>
            </a:p>
          </p:txBody>
        </p:sp>
        <p:sp>
          <p:nvSpPr>
            <p:cNvPr id="121" name="Text 81">
              <a:extLst>
                <a:ext uri="{FF2B5EF4-FFF2-40B4-BE49-F238E27FC236}">
                  <a16:creationId xmlns:a16="http://schemas.microsoft.com/office/drawing/2014/main" id="{EF37B92A-E994-F289-2097-E73C81AD772E}"/>
                </a:ext>
              </a:extLst>
            </p:cNvPr>
            <p:cNvSpPr/>
            <p:nvPr/>
          </p:nvSpPr>
          <p:spPr>
            <a:xfrm>
              <a:off x="6910407" y="3948124"/>
              <a:ext cx="17647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#2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Shape 82">
              <a:extLst>
                <a:ext uri="{FF2B5EF4-FFF2-40B4-BE49-F238E27FC236}">
                  <a16:creationId xmlns:a16="http://schemas.microsoft.com/office/drawing/2014/main" id="{31F95F71-EEE9-564A-834E-0A5C05D36E12}"/>
                </a:ext>
              </a:extLst>
            </p:cNvPr>
            <p:cNvSpPr/>
            <p:nvPr/>
          </p:nvSpPr>
          <p:spPr>
            <a:xfrm>
              <a:off x="6910407" y="4240732"/>
              <a:ext cx="1764792" cy="685800"/>
            </a:xfrm>
            <a:prstGeom prst="roundRect">
              <a:avLst>
                <a:gd name="adj" fmla="val 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397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Text 83">
              <a:extLst>
                <a:ext uri="{FF2B5EF4-FFF2-40B4-BE49-F238E27FC236}">
                  <a16:creationId xmlns:a16="http://schemas.microsoft.com/office/drawing/2014/main" id="{525D34D3-3957-E043-8ECA-F278E5677870}"/>
                </a:ext>
              </a:extLst>
            </p:cNvPr>
            <p:cNvSpPr/>
            <p:nvPr/>
          </p:nvSpPr>
          <p:spPr>
            <a:xfrm>
              <a:off x="6928695" y="4464760"/>
              <a:ext cx="17282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J1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Text 84">
              <a:extLst>
                <a:ext uri="{FF2B5EF4-FFF2-40B4-BE49-F238E27FC236}">
                  <a16:creationId xmlns:a16="http://schemas.microsoft.com/office/drawing/2014/main" id="{DE62A3E2-F310-1F67-601F-54C5B775C68D}"/>
                </a:ext>
              </a:extLst>
            </p:cNvPr>
            <p:cNvSpPr/>
            <p:nvPr/>
          </p:nvSpPr>
          <p:spPr>
            <a:xfrm>
              <a:off x="8730063" y="3936593"/>
              <a:ext cx="17647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#3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Shape 85">
              <a:extLst>
                <a:ext uri="{FF2B5EF4-FFF2-40B4-BE49-F238E27FC236}">
                  <a16:creationId xmlns:a16="http://schemas.microsoft.com/office/drawing/2014/main" id="{51226A8C-1795-DB59-4280-835266B856CD}"/>
                </a:ext>
              </a:extLst>
            </p:cNvPr>
            <p:cNvSpPr/>
            <p:nvPr/>
          </p:nvSpPr>
          <p:spPr>
            <a:xfrm>
              <a:off x="8748351" y="4240732"/>
              <a:ext cx="1764792" cy="6858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397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31" name="Text 86">
              <a:extLst>
                <a:ext uri="{FF2B5EF4-FFF2-40B4-BE49-F238E27FC236}">
                  <a16:creationId xmlns:a16="http://schemas.microsoft.com/office/drawing/2014/main" id="{50C465B0-EABA-82B5-1CD7-707C3C71B76F}"/>
                </a:ext>
              </a:extLst>
            </p:cNvPr>
            <p:cNvSpPr/>
            <p:nvPr/>
          </p:nvSpPr>
          <p:spPr>
            <a:xfrm>
              <a:off x="8766639" y="4464760"/>
              <a:ext cx="17282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F56B5F-9955-89E7-1B6A-65FCDE946065}"/>
              </a:ext>
            </a:extLst>
          </p:cNvPr>
          <p:cNvCxnSpPr/>
          <p:nvPr/>
        </p:nvCxnSpPr>
        <p:spPr>
          <a:xfrm>
            <a:off x="919691" y="942427"/>
            <a:ext cx="1035261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0249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3C7CB-3356-D1B4-DF6B-8B7B8A0D9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0DAE-DA32-E8DF-83E7-EAEADE435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465"/>
            <a:ext cx="8582024" cy="52070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#1 (Cont.)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1802A-2A6A-CB07-5824-A6439F572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02" y="1110726"/>
            <a:ext cx="2900838" cy="2382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#3: Schedule Jobs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J2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J2 has: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ABB4125-04AE-2597-E296-FF7B918B32F5}"/>
              </a:ext>
            </a:extLst>
          </p:cNvPr>
          <p:cNvGraphicFramePr>
            <a:graphicFrameLocks noGrp="1"/>
          </p:cNvGraphicFramePr>
          <p:nvPr/>
        </p:nvGraphicFramePr>
        <p:xfrm>
          <a:off x="921135" y="1390377"/>
          <a:ext cx="3567736" cy="2103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91934">
                  <a:extLst>
                    <a:ext uri="{9D8B030D-6E8A-4147-A177-3AD203B41FA5}">
                      <a16:colId xmlns:a16="http://schemas.microsoft.com/office/drawing/2014/main" val="741510827"/>
                    </a:ext>
                  </a:extLst>
                </a:gridCol>
                <a:gridCol w="891934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891934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891934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926470C7-2BF7-A6D1-79CC-5821248C61D0}"/>
              </a:ext>
            </a:extLst>
          </p:cNvPr>
          <p:cNvGrpSpPr/>
          <p:nvPr/>
        </p:nvGrpSpPr>
        <p:grpSpPr>
          <a:xfrm>
            <a:off x="5059780" y="2129750"/>
            <a:ext cx="1954670" cy="664028"/>
            <a:chOff x="922081" y="2310222"/>
            <a:chExt cx="1954670" cy="6640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361F675-36FF-FA76-4BE8-A01C0CA23F27}"/>
                </a:ext>
              </a:extLst>
            </p:cNvPr>
            <p:cNvSpPr/>
            <p:nvPr/>
          </p:nvSpPr>
          <p:spPr>
            <a:xfrm>
              <a:off x="922081" y="2310222"/>
              <a:ext cx="76200" cy="664028"/>
            </a:xfrm>
            <a:prstGeom prst="rect">
              <a:avLst/>
            </a:prstGeom>
            <a:solidFill>
              <a:srgbClr val="EE0000"/>
            </a:solidFill>
            <a:ln w="9525">
              <a:solidFill>
                <a:srgbClr val="E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D8C2F2E-BF31-89F3-D11C-3CABB9FD5F6E}"/>
                </a:ext>
              </a:extLst>
            </p:cNvPr>
            <p:cNvSpPr/>
            <p:nvPr/>
          </p:nvSpPr>
          <p:spPr>
            <a:xfrm>
              <a:off x="1010964" y="2310222"/>
              <a:ext cx="1865787" cy="664028"/>
            </a:xfrm>
            <a:prstGeom prst="rect">
              <a:avLst/>
            </a:prstGeom>
            <a:solidFill>
              <a:srgbClr val="FF5050">
                <a:alpha val="50196"/>
              </a:srgbClr>
            </a:solidFill>
            <a:ln w="3175">
              <a:solidFill>
                <a:srgbClr val="E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deadline = 1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profit = 19</a:t>
              </a: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47350A9-491C-3793-332F-0C352A6604D4}"/>
              </a:ext>
            </a:extLst>
          </p:cNvPr>
          <p:cNvSpPr txBox="1">
            <a:spLocks/>
          </p:cNvSpPr>
          <p:nvPr/>
        </p:nvSpPr>
        <p:spPr>
          <a:xfrm>
            <a:off x="961135" y="5342839"/>
            <a:ext cx="1909175" cy="1149755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results: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countJobs = 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totalProfit = 127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105150A-1E79-8E1C-19F9-2E4C714F69B3}"/>
              </a:ext>
            </a:extLst>
          </p:cNvPr>
          <p:cNvGrpSpPr/>
          <p:nvPr/>
        </p:nvGrpSpPr>
        <p:grpSpPr>
          <a:xfrm>
            <a:off x="7602160" y="1101213"/>
            <a:ext cx="3720267" cy="1929206"/>
            <a:chOff x="7980814" y="929459"/>
            <a:chExt cx="3615395" cy="2011680"/>
          </a:xfrm>
        </p:grpSpPr>
        <p:sp>
          <p:nvSpPr>
            <p:cNvPr id="21" name="Shape 54">
              <a:extLst>
                <a:ext uri="{FF2B5EF4-FFF2-40B4-BE49-F238E27FC236}">
                  <a16:creationId xmlns:a16="http://schemas.microsoft.com/office/drawing/2014/main" id="{1E445D04-D133-ACE0-EC4A-DFAC2ADC1A7E}"/>
                </a:ext>
              </a:extLst>
            </p:cNvPr>
            <p:cNvSpPr/>
            <p:nvPr/>
          </p:nvSpPr>
          <p:spPr>
            <a:xfrm>
              <a:off x="7980814" y="929459"/>
              <a:ext cx="3569965" cy="2011680"/>
            </a:xfrm>
            <a:prstGeom prst="roundRect">
              <a:avLst>
                <a:gd name="adj" fmla="val 3636"/>
              </a:avLst>
            </a:prstGeom>
            <a:solidFill>
              <a:srgbClr val="F8FAFC"/>
            </a:solidFill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600"/>
            </a:p>
          </p:txBody>
        </p:sp>
        <p:sp>
          <p:nvSpPr>
            <p:cNvPr id="25" name="Text 55">
              <a:extLst>
                <a:ext uri="{FF2B5EF4-FFF2-40B4-BE49-F238E27FC236}">
                  <a16:creationId xmlns:a16="http://schemas.microsoft.com/office/drawing/2014/main" id="{DE96D923-CB37-9F82-FF9A-6CFA72D2B02B}"/>
                </a:ext>
              </a:extLst>
            </p:cNvPr>
            <p:cNvSpPr/>
            <p:nvPr/>
          </p:nvSpPr>
          <p:spPr>
            <a:xfrm>
              <a:off x="8290433" y="1204067"/>
              <a:ext cx="3305776" cy="160020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find(1) = 0 again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There is still no free slot before deadline 1.</a:t>
              </a:r>
            </a:p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 J2 is also skipped.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FE4BEFC-2113-C019-DA95-B88BAC968D6C}"/>
              </a:ext>
            </a:extLst>
          </p:cNvPr>
          <p:cNvSpPr txBox="1"/>
          <p:nvPr/>
        </p:nvSpPr>
        <p:spPr>
          <a:xfrm>
            <a:off x="838200" y="1036433"/>
            <a:ext cx="4309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Jobs by Profit</a:t>
            </a: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8EF8D894-7BFA-F13D-681F-755F2E265DD4}"/>
              </a:ext>
            </a:extLst>
          </p:cNvPr>
          <p:cNvGrpSpPr/>
          <p:nvPr/>
        </p:nvGrpSpPr>
        <p:grpSpPr>
          <a:xfrm>
            <a:off x="876299" y="3799207"/>
            <a:ext cx="4932296" cy="1127325"/>
            <a:chOff x="876299" y="3799207"/>
            <a:chExt cx="4756858" cy="1127325"/>
          </a:xfrm>
        </p:grpSpPr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C6E2F424-F776-DAAC-1DEB-E681BC3FC919}"/>
                </a:ext>
              </a:extLst>
            </p:cNvPr>
            <p:cNvSpPr txBox="1">
              <a:spLocks/>
            </p:cNvSpPr>
            <p:nvPr/>
          </p:nvSpPr>
          <p:spPr>
            <a:xfrm>
              <a:off x="876299" y="3799207"/>
              <a:ext cx="4756857" cy="33855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DSU parent array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Shape 57">
              <a:extLst>
                <a:ext uri="{FF2B5EF4-FFF2-40B4-BE49-F238E27FC236}">
                  <a16:creationId xmlns:a16="http://schemas.microsoft.com/office/drawing/2014/main" id="{B41F5E32-B4B0-8D4D-7E2B-8171644586D2}"/>
                </a:ext>
              </a:extLst>
            </p:cNvPr>
            <p:cNvSpPr/>
            <p:nvPr/>
          </p:nvSpPr>
          <p:spPr>
            <a:xfrm>
              <a:off x="969717" y="4149292"/>
              <a:ext cx="68580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Text 58">
              <a:extLst>
                <a:ext uri="{FF2B5EF4-FFF2-40B4-BE49-F238E27FC236}">
                  <a16:creationId xmlns:a16="http://schemas.microsoft.com/office/drawing/2014/main" id="{0B8E253E-8BBF-B033-13ED-3139A18ADE54}"/>
                </a:ext>
              </a:extLst>
            </p:cNvPr>
            <p:cNvSpPr/>
            <p:nvPr/>
          </p:nvSpPr>
          <p:spPr>
            <a:xfrm>
              <a:off x="988005" y="4176724"/>
              <a:ext cx="64922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Index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Shape 59">
              <a:extLst>
                <a:ext uri="{FF2B5EF4-FFF2-40B4-BE49-F238E27FC236}">
                  <a16:creationId xmlns:a16="http://schemas.microsoft.com/office/drawing/2014/main" id="{FAF65A0E-B762-716F-87D2-1D982687556B}"/>
                </a:ext>
              </a:extLst>
            </p:cNvPr>
            <p:cNvSpPr/>
            <p:nvPr/>
          </p:nvSpPr>
          <p:spPr>
            <a:xfrm>
              <a:off x="1655517" y="4149292"/>
              <a:ext cx="99441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 60">
              <a:extLst>
                <a:ext uri="{FF2B5EF4-FFF2-40B4-BE49-F238E27FC236}">
                  <a16:creationId xmlns:a16="http://schemas.microsoft.com/office/drawing/2014/main" id="{61338A26-6BFC-1687-1EDD-5403F7F4E17B}"/>
                </a:ext>
              </a:extLst>
            </p:cNvPr>
            <p:cNvSpPr/>
            <p:nvPr/>
          </p:nvSpPr>
          <p:spPr>
            <a:xfrm>
              <a:off x="1673805" y="417672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Shape 61">
              <a:extLst>
                <a:ext uri="{FF2B5EF4-FFF2-40B4-BE49-F238E27FC236}">
                  <a16:creationId xmlns:a16="http://schemas.microsoft.com/office/drawing/2014/main" id="{1343FC89-ADF0-5F98-19B5-2BB93C3B8C16}"/>
                </a:ext>
              </a:extLst>
            </p:cNvPr>
            <p:cNvSpPr/>
            <p:nvPr/>
          </p:nvSpPr>
          <p:spPr>
            <a:xfrm>
              <a:off x="2649927" y="4149292"/>
              <a:ext cx="99441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Text 62">
              <a:extLst>
                <a:ext uri="{FF2B5EF4-FFF2-40B4-BE49-F238E27FC236}">
                  <a16:creationId xmlns:a16="http://schemas.microsoft.com/office/drawing/2014/main" id="{5DDFC8A5-C1C9-FDAB-6788-9AFD5744188E}"/>
                </a:ext>
              </a:extLst>
            </p:cNvPr>
            <p:cNvSpPr/>
            <p:nvPr/>
          </p:nvSpPr>
          <p:spPr>
            <a:xfrm>
              <a:off x="2668215" y="417672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Shape 63">
              <a:extLst>
                <a:ext uri="{FF2B5EF4-FFF2-40B4-BE49-F238E27FC236}">
                  <a16:creationId xmlns:a16="http://schemas.microsoft.com/office/drawing/2014/main" id="{C87EEA0D-6516-86B4-8043-F1CFA0923062}"/>
                </a:ext>
              </a:extLst>
            </p:cNvPr>
            <p:cNvSpPr/>
            <p:nvPr/>
          </p:nvSpPr>
          <p:spPr>
            <a:xfrm>
              <a:off x="3644337" y="4149292"/>
              <a:ext cx="99441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Text 64">
              <a:extLst>
                <a:ext uri="{FF2B5EF4-FFF2-40B4-BE49-F238E27FC236}">
                  <a16:creationId xmlns:a16="http://schemas.microsoft.com/office/drawing/2014/main" id="{086232C2-7A6C-0326-CCA6-1A9F107B7275}"/>
                </a:ext>
              </a:extLst>
            </p:cNvPr>
            <p:cNvSpPr/>
            <p:nvPr/>
          </p:nvSpPr>
          <p:spPr>
            <a:xfrm>
              <a:off x="3662625" y="417672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Shape 65">
              <a:extLst>
                <a:ext uri="{FF2B5EF4-FFF2-40B4-BE49-F238E27FC236}">
                  <a16:creationId xmlns:a16="http://schemas.microsoft.com/office/drawing/2014/main" id="{6AAC8F44-8F7E-E517-531C-87492DE87B66}"/>
                </a:ext>
              </a:extLst>
            </p:cNvPr>
            <p:cNvSpPr/>
            <p:nvPr/>
          </p:nvSpPr>
          <p:spPr>
            <a:xfrm>
              <a:off x="4638747" y="4149292"/>
              <a:ext cx="99441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Text 66">
              <a:extLst>
                <a:ext uri="{FF2B5EF4-FFF2-40B4-BE49-F238E27FC236}">
                  <a16:creationId xmlns:a16="http://schemas.microsoft.com/office/drawing/2014/main" id="{D09B4451-116C-48A5-3C5A-FB8E860228F6}"/>
                </a:ext>
              </a:extLst>
            </p:cNvPr>
            <p:cNvSpPr/>
            <p:nvPr/>
          </p:nvSpPr>
          <p:spPr>
            <a:xfrm>
              <a:off x="4657035" y="417672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Shape 67">
              <a:extLst>
                <a:ext uri="{FF2B5EF4-FFF2-40B4-BE49-F238E27FC236}">
                  <a16:creationId xmlns:a16="http://schemas.microsoft.com/office/drawing/2014/main" id="{9B0AA03C-C3D7-9B24-B12D-ABB56EEBA75D}"/>
                </a:ext>
              </a:extLst>
            </p:cNvPr>
            <p:cNvSpPr/>
            <p:nvPr/>
          </p:nvSpPr>
          <p:spPr>
            <a:xfrm>
              <a:off x="969717" y="4537912"/>
              <a:ext cx="68580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 68">
              <a:extLst>
                <a:ext uri="{FF2B5EF4-FFF2-40B4-BE49-F238E27FC236}">
                  <a16:creationId xmlns:a16="http://schemas.microsoft.com/office/drawing/2014/main" id="{FD14803B-3457-F3CC-4A37-F3EA3B505D56}"/>
                </a:ext>
              </a:extLst>
            </p:cNvPr>
            <p:cNvSpPr/>
            <p:nvPr/>
          </p:nvSpPr>
          <p:spPr>
            <a:xfrm>
              <a:off x="988005" y="4565344"/>
              <a:ext cx="64922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Parent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Shape 69">
              <a:extLst>
                <a:ext uri="{FF2B5EF4-FFF2-40B4-BE49-F238E27FC236}">
                  <a16:creationId xmlns:a16="http://schemas.microsoft.com/office/drawing/2014/main" id="{0B5485CF-67BE-6A32-ABD1-A53B74B96661}"/>
                </a:ext>
              </a:extLst>
            </p:cNvPr>
            <p:cNvSpPr/>
            <p:nvPr/>
          </p:nvSpPr>
          <p:spPr>
            <a:xfrm>
              <a:off x="1655517" y="4537912"/>
              <a:ext cx="994410" cy="388620"/>
            </a:xfrm>
            <a:prstGeom prst="rect">
              <a:avLst/>
            </a:prstGeom>
            <a:solidFill>
              <a:srgbClr val="FFFFFF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 70">
              <a:extLst>
                <a:ext uri="{FF2B5EF4-FFF2-40B4-BE49-F238E27FC236}">
                  <a16:creationId xmlns:a16="http://schemas.microsoft.com/office/drawing/2014/main" id="{70E44C5D-4E82-2BC5-B11D-DFF98C6E053E}"/>
                </a:ext>
              </a:extLst>
            </p:cNvPr>
            <p:cNvSpPr/>
            <p:nvPr/>
          </p:nvSpPr>
          <p:spPr>
            <a:xfrm>
              <a:off x="1673805" y="456534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Shape 71">
              <a:extLst>
                <a:ext uri="{FF2B5EF4-FFF2-40B4-BE49-F238E27FC236}">
                  <a16:creationId xmlns:a16="http://schemas.microsoft.com/office/drawing/2014/main" id="{70A14D8C-8F7B-42D8-9D12-3911CF5EF2B5}"/>
                </a:ext>
              </a:extLst>
            </p:cNvPr>
            <p:cNvSpPr/>
            <p:nvPr/>
          </p:nvSpPr>
          <p:spPr>
            <a:xfrm>
              <a:off x="2649927" y="4537912"/>
              <a:ext cx="994410" cy="388620"/>
            </a:xfrm>
            <a:prstGeom prst="rect">
              <a:avLst/>
            </a:prstGeom>
            <a:solidFill>
              <a:srgbClr val="FFEDD5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Text 72">
              <a:extLst>
                <a:ext uri="{FF2B5EF4-FFF2-40B4-BE49-F238E27FC236}">
                  <a16:creationId xmlns:a16="http://schemas.microsoft.com/office/drawing/2014/main" id="{8930551A-03D1-F0F9-E629-14A1AD039964}"/>
                </a:ext>
              </a:extLst>
            </p:cNvPr>
            <p:cNvSpPr/>
            <p:nvPr/>
          </p:nvSpPr>
          <p:spPr>
            <a:xfrm>
              <a:off x="2668215" y="456534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Shape 73">
              <a:extLst>
                <a:ext uri="{FF2B5EF4-FFF2-40B4-BE49-F238E27FC236}">
                  <a16:creationId xmlns:a16="http://schemas.microsoft.com/office/drawing/2014/main" id="{861D81E2-E40D-4DB4-0B5A-C92CB004E601}"/>
                </a:ext>
              </a:extLst>
            </p:cNvPr>
            <p:cNvSpPr/>
            <p:nvPr/>
          </p:nvSpPr>
          <p:spPr>
            <a:xfrm>
              <a:off x="3644337" y="4537912"/>
              <a:ext cx="994410" cy="388620"/>
            </a:xfrm>
            <a:prstGeom prst="rect">
              <a:avLst/>
            </a:prstGeom>
            <a:noFill/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Text 74">
              <a:extLst>
                <a:ext uri="{FF2B5EF4-FFF2-40B4-BE49-F238E27FC236}">
                  <a16:creationId xmlns:a16="http://schemas.microsoft.com/office/drawing/2014/main" id="{E1BD8C7A-D2A0-287D-59D7-5AC34914F5D4}"/>
                </a:ext>
              </a:extLst>
            </p:cNvPr>
            <p:cNvSpPr/>
            <p:nvPr/>
          </p:nvSpPr>
          <p:spPr>
            <a:xfrm>
              <a:off x="3662625" y="456534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Shape 75">
              <a:extLst>
                <a:ext uri="{FF2B5EF4-FFF2-40B4-BE49-F238E27FC236}">
                  <a16:creationId xmlns:a16="http://schemas.microsoft.com/office/drawing/2014/main" id="{E36123AE-CD53-1A2A-DD57-6FF88A26B989}"/>
                </a:ext>
              </a:extLst>
            </p:cNvPr>
            <p:cNvSpPr/>
            <p:nvPr/>
          </p:nvSpPr>
          <p:spPr>
            <a:xfrm>
              <a:off x="4638747" y="4537912"/>
              <a:ext cx="994410" cy="388620"/>
            </a:xfrm>
            <a:prstGeom prst="rect">
              <a:avLst/>
            </a:prstGeom>
            <a:solidFill>
              <a:srgbClr val="FFFFFF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Text 76">
              <a:extLst>
                <a:ext uri="{FF2B5EF4-FFF2-40B4-BE49-F238E27FC236}">
                  <a16:creationId xmlns:a16="http://schemas.microsoft.com/office/drawing/2014/main" id="{CCAB1526-F5FA-4F9B-0EA9-7FEDEA12DEE0}"/>
                </a:ext>
              </a:extLst>
            </p:cNvPr>
            <p:cNvSpPr/>
            <p:nvPr/>
          </p:nvSpPr>
          <p:spPr>
            <a:xfrm>
              <a:off x="4657035" y="456534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1" name="Text 77">
            <a:extLst>
              <a:ext uri="{FF2B5EF4-FFF2-40B4-BE49-F238E27FC236}">
                <a16:creationId xmlns:a16="http://schemas.microsoft.com/office/drawing/2014/main" id="{E47DEC4A-F922-589E-31D1-A3D1FF5E02E6}"/>
              </a:ext>
            </a:extLst>
          </p:cNvPr>
          <p:cNvSpPr/>
          <p:nvPr/>
        </p:nvSpPr>
        <p:spPr>
          <a:xfrm>
            <a:off x="6677023" y="3940233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schedule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600E9A5-EFCC-D1B5-A90A-412CBA5AF280}"/>
              </a:ext>
            </a:extLst>
          </p:cNvPr>
          <p:cNvGrpSpPr/>
          <p:nvPr/>
        </p:nvGrpSpPr>
        <p:grpSpPr>
          <a:xfrm>
            <a:off x="6677023" y="4311432"/>
            <a:ext cx="4645404" cy="615100"/>
            <a:chOff x="5072463" y="3936593"/>
            <a:chExt cx="5440680" cy="989939"/>
          </a:xfrm>
        </p:grpSpPr>
        <p:sp>
          <p:nvSpPr>
            <p:cNvPr id="115" name="Text 78">
              <a:extLst>
                <a:ext uri="{FF2B5EF4-FFF2-40B4-BE49-F238E27FC236}">
                  <a16:creationId xmlns:a16="http://schemas.microsoft.com/office/drawing/2014/main" id="{F0AA310E-CBD4-9060-06B3-4EDE3C09D68A}"/>
                </a:ext>
              </a:extLst>
            </p:cNvPr>
            <p:cNvSpPr/>
            <p:nvPr/>
          </p:nvSpPr>
          <p:spPr>
            <a:xfrm>
              <a:off x="5072463" y="3948124"/>
              <a:ext cx="17647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#1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Shape 79">
              <a:extLst>
                <a:ext uri="{FF2B5EF4-FFF2-40B4-BE49-F238E27FC236}">
                  <a16:creationId xmlns:a16="http://schemas.microsoft.com/office/drawing/2014/main" id="{AC7FE52C-D745-4685-CFF2-8C041BFDF485}"/>
                </a:ext>
              </a:extLst>
            </p:cNvPr>
            <p:cNvSpPr/>
            <p:nvPr/>
          </p:nvSpPr>
          <p:spPr>
            <a:xfrm>
              <a:off x="5072463" y="4240732"/>
              <a:ext cx="1764792" cy="685800"/>
            </a:xfrm>
            <a:prstGeom prst="roundRect">
              <a:avLst>
                <a:gd name="adj" fmla="val 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397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Text 80">
              <a:extLst>
                <a:ext uri="{FF2B5EF4-FFF2-40B4-BE49-F238E27FC236}">
                  <a16:creationId xmlns:a16="http://schemas.microsoft.com/office/drawing/2014/main" id="{B2A03CF6-CFC0-AC0A-85A7-9D55D873B9E5}"/>
                </a:ext>
              </a:extLst>
            </p:cNvPr>
            <p:cNvSpPr/>
            <p:nvPr/>
          </p:nvSpPr>
          <p:spPr>
            <a:xfrm>
              <a:off x="5090751" y="4464760"/>
              <a:ext cx="17282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J3</a:t>
              </a:r>
            </a:p>
          </p:txBody>
        </p:sp>
        <p:sp>
          <p:nvSpPr>
            <p:cNvPr id="121" name="Text 81">
              <a:extLst>
                <a:ext uri="{FF2B5EF4-FFF2-40B4-BE49-F238E27FC236}">
                  <a16:creationId xmlns:a16="http://schemas.microsoft.com/office/drawing/2014/main" id="{34A8548F-DB6D-F677-0034-5B4FC3FEF793}"/>
                </a:ext>
              </a:extLst>
            </p:cNvPr>
            <p:cNvSpPr/>
            <p:nvPr/>
          </p:nvSpPr>
          <p:spPr>
            <a:xfrm>
              <a:off x="6910407" y="3948124"/>
              <a:ext cx="17647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#2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Shape 82">
              <a:extLst>
                <a:ext uri="{FF2B5EF4-FFF2-40B4-BE49-F238E27FC236}">
                  <a16:creationId xmlns:a16="http://schemas.microsoft.com/office/drawing/2014/main" id="{9E1FEABB-5ADF-FE90-875A-48BF504FFB97}"/>
                </a:ext>
              </a:extLst>
            </p:cNvPr>
            <p:cNvSpPr/>
            <p:nvPr/>
          </p:nvSpPr>
          <p:spPr>
            <a:xfrm>
              <a:off x="6910407" y="4240732"/>
              <a:ext cx="1764792" cy="685800"/>
            </a:xfrm>
            <a:prstGeom prst="roundRect">
              <a:avLst>
                <a:gd name="adj" fmla="val 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397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Text 83">
              <a:extLst>
                <a:ext uri="{FF2B5EF4-FFF2-40B4-BE49-F238E27FC236}">
                  <a16:creationId xmlns:a16="http://schemas.microsoft.com/office/drawing/2014/main" id="{4BD040F3-7A59-E096-045D-9ABC5E2BCB7C}"/>
                </a:ext>
              </a:extLst>
            </p:cNvPr>
            <p:cNvSpPr/>
            <p:nvPr/>
          </p:nvSpPr>
          <p:spPr>
            <a:xfrm>
              <a:off x="6928695" y="4464760"/>
              <a:ext cx="17282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J1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Text 84">
              <a:extLst>
                <a:ext uri="{FF2B5EF4-FFF2-40B4-BE49-F238E27FC236}">
                  <a16:creationId xmlns:a16="http://schemas.microsoft.com/office/drawing/2014/main" id="{393DECB9-F504-EA56-2CF9-BEFBD6E8FB0C}"/>
                </a:ext>
              </a:extLst>
            </p:cNvPr>
            <p:cNvSpPr/>
            <p:nvPr/>
          </p:nvSpPr>
          <p:spPr>
            <a:xfrm>
              <a:off x="8730063" y="3936593"/>
              <a:ext cx="17647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#3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Shape 85">
              <a:extLst>
                <a:ext uri="{FF2B5EF4-FFF2-40B4-BE49-F238E27FC236}">
                  <a16:creationId xmlns:a16="http://schemas.microsoft.com/office/drawing/2014/main" id="{4A809C20-14F1-FBC9-C59A-DCE894A713DC}"/>
                </a:ext>
              </a:extLst>
            </p:cNvPr>
            <p:cNvSpPr/>
            <p:nvPr/>
          </p:nvSpPr>
          <p:spPr>
            <a:xfrm>
              <a:off x="8748351" y="4240732"/>
              <a:ext cx="1764792" cy="6858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397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31" name="Text 86">
              <a:extLst>
                <a:ext uri="{FF2B5EF4-FFF2-40B4-BE49-F238E27FC236}">
                  <a16:creationId xmlns:a16="http://schemas.microsoft.com/office/drawing/2014/main" id="{1FE3425E-C62F-3B92-8288-1E483C79B09E}"/>
                </a:ext>
              </a:extLst>
            </p:cNvPr>
            <p:cNvSpPr/>
            <p:nvPr/>
          </p:nvSpPr>
          <p:spPr>
            <a:xfrm>
              <a:off x="8766639" y="4464760"/>
              <a:ext cx="17282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11A5BFC-3A12-ECB3-508F-EEA1097D4A1F}"/>
              </a:ext>
            </a:extLst>
          </p:cNvPr>
          <p:cNvCxnSpPr/>
          <p:nvPr/>
        </p:nvCxnSpPr>
        <p:spPr>
          <a:xfrm>
            <a:off x="923062" y="947233"/>
            <a:ext cx="1035261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408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C70B6-8545-FFA7-08DA-B321ECB79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020B8-D61F-108B-456C-DF553B400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465"/>
            <a:ext cx="8582024" cy="52070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#1 (Cont.)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2EE43-25B7-684B-A4BA-730B7460F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6788" y="1110726"/>
            <a:ext cx="2855806" cy="2382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#3: Schedule Jobs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J5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J5 has: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7D51342-88A2-D95F-B5DA-34303F34191E}"/>
              </a:ext>
            </a:extLst>
          </p:cNvPr>
          <p:cNvGraphicFramePr>
            <a:graphicFrameLocks noGrp="1"/>
          </p:cNvGraphicFramePr>
          <p:nvPr/>
        </p:nvGraphicFramePr>
        <p:xfrm>
          <a:off x="921135" y="1390377"/>
          <a:ext cx="3567736" cy="2103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91934">
                  <a:extLst>
                    <a:ext uri="{9D8B030D-6E8A-4147-A177-3AD203B41FA5}">
                      <a16:colId xmlns:a16="http://schemas.microsoft.com/office/drawing/2014/main" val="741510827"/>
                    </a:ext>
                  </a:extLst>
                </a:gridCol>
                <a:gridCol w="891934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891934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891934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116DEFEB-E66C-1E89-263E-D5E21D636F4B}"/>
              </a:ext>
            </a:extLst>
          </p:cNvPr>
          <p:cNvGrpSpPr/>
          <p:nvPr/>
        </p:nvGrpSpPr>
        <p:grpSpPr>
          <a:xfrm>
            <a:off x="5074351" y="2138003"/>
            <a:ext cx="1954670" cy="664028"/>
            <a:chOff x="922081" y="2310222"/>
            <a:chExt cx="1954670" cy="6640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6B94DE7-6F96-2827-1336-B35C7EE1ADBF}"/>
                </a:ext>
              </a:extLst>
            </p:cNvPr>
            <p:cNvSpPr/>
            <p:nvPr/>
          </p:nvSpPr>
          <p:spPr>
            <a:xfrm>
              <a:off x="922081" y="2310222"/>
              <a:ext cx="76200" cy="664028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73077F7-457A-6C75-C306-6361B01A8C34}"/>
                </a:ext>
              </a:extLst>
            </p:cNvPr>
            <p:cNvSpPr/>
            <p:nvPr/>
          </p:nvSpPr>
          <p:spPr>
            <a:xfrm>
              <a:off x="1010964" y="2310222"/>
              <a:ext cx="1865787" cy="664028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50196"/>
              </a:schemeClr>
            </a:solidFill>
            <a:ln w="63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deadline = 3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profit = 15</a:t>
              </a: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840854F-9F35-C4D0-9EFF-CEB2B984092E}"/>
              </a:ext>
            </a:extLst>
          </p:cNvPr>
          <p:cNvSpPr txBox="1">
            <a:spLocks/>
          </p:cNvSpPr>
          <p:nvPr/>
        </p:nvSpPr>
        <p:spPr>
          <a:xfrm>
            <a:off x="961135" y="5342839"/>
            <a:ext cx="1909175" cy="1149755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results: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countJobs = 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totalProfit = 142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BC087E5-0949-E824-336C-BA7898BC6A09}"/>
              </a:ext>
            </a:extLst>
          </p:cNvPr>
          <p:cNvGrpSpPr/>
          <p:nvPr/>
        </p:nvGrpSpPr>
        <p:grpSpPr>
          <a:xfrm>
            <a:off x="7517525" y="1107355"/>
            <a:ext cx="3836275" cy="1929206"/>
            <a:chOff x="7980814" y="929459"/>
            <a:chExt cx="3615395" cy="2011680"/>
          </a:xfrm>
        </p:grpSpPr>
        <p:sp>
          <p:nvSpPr>
            <p:cNvPr id="21" name="Shape 54">
              <a:extLst>
                <a:ext uri="{FF2B5EF4-FFF2-40B4-BE49-F238E27FC236}">
                  <a16:creationId xmlns:a16="http://schemas.microsoft.com/office/drawing/2014/main" id="{DF9BC465-5C23-2395-C619-20EBE707218B}"/>
                </a:ext>
              </a:extLst>
            </p:cNvPr>
            <p:cNvSpPr/>
            <p:nvPr/>
          </p:nvSpPr>
          <p:spPr>
            <a:xfrm>
              <a:off x="7980814" y="929459"/>
              <a:ext cx="3569965" cy="2011680"/>
            </a:xfrm>
            <a:prstGeom prst="roundRect">
              <a:avLst>
                <a:gd name="adj" fmla="val 3636"/>
              </a:avLst>
            </a:prstGeom>
            <a:solidFill>
              <a:srgbClr val="F8FAFC"/>
            </a:solidFill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600"/>
            </a:p>
          </p:txBody>
        </p:sp>
        <p:sp>
          <p:nvSpPr>
            <p:cNvPr id="25" name="Text 55">
              <a:extLst>
                <a:ext uri="{FF2B5EF4-FFF2-40B4-BE49-F238E27FC236}">
                  <a16:creationId xmlns:a16="http://schemas.microsoft.com/office/drawing/2014/main" id="{058E24C0-053B-3F72-105A-D2BF29B7241D}"/>
                </a:ext>
              </a:extLst>
            </p:cNvPr>
            <p:cNvSpPr/>
            <p:nvPr/>
          </p:nvSpPr>
          <p:spPr>
            <a:xfrm>
              <a:off x="8144497" y="1204067"/>
              <a:ext cx="3451712" cy="160020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find(3) = 3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3 is free, so place J5 there.</a:t>
              </a:r>
            </a:p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Then mark Slot 3 as occupied using parent[3] = find(2).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9924D4C-F87D-D1E3-55E6-5CEC05BC5D84}"/>
              </a:ext>
            </a:extLst>
          </p:cNvPr>
          <p:cNvSpPr txBox="1"/>
          <p:nvPr/>
        </p:nvSpPr>
        <p:spPr>
          <a:xfrm>
            <a:off x="838200" y="1036433"/>
            <a:ext cx="4309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Jobs by Profit</a:t>
            </a: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FD825CC-F591-9981-722A-1A73C75CC642}"/>
              </a:ext>
            </a:extLst>
          </p:cNvPr>
          <p:cNvGrpSpPr/>
          <p:nvPr/>
        </p:nvGrpSpPr>
        <p:grpSpPr>
          <a:xfrm>
            <a:off x="876299" y="3799207"/>
            <a:ext cx="4932296" cy="1127325"/>
            <a:chOff x="876299" y="3799207"/>
            <a:chExt cx="4756858" cy="1127325"/>
          </a:xfrm>
        </p:grpSpPr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4F9C5C47-1D73-BCF8-E819-71CA79EF6CF8}"/>
                </a:ext>
              </a:extLst>
            </p:cNvPr>
            <p:cNvSpPr txBox="1">
              <a:spLocks/>
            </p:cNvSpPr>
            <p:nvPr/>
          </p:nvSpPr>
          <p:spPr>
            <a:xfrm>
              <a:off x="876299" y="3799207"/>
              <a:ext cx="4756857" cy="33855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DSU parent array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Shape 57">
              <a:extLst>
                <a:ext uri="{FF2B5EF4-FFF2-40B4-BE49-F238E27FC236}">
                  <a16:creationId xmlns:a16="http://schemas.microsoft.com/office/drawing/2014/main" id="{B7962CCC-548B-0F22-EB72-E338ECE44BD0}"/>
                </a:ext>
              </a:extLst>
            </p:cNvPr>
            <p:cNvSpPr/>
            <p:nvPr/>
          </p:nvSpPr>
          <p:spPr>
            <a:xfrm>
              <a:off x="969717" y="4149292"/>
              <a:ext cx="68580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Text 58">
              <a:extLst>
                <a:ext uri="{FF2B5EF4-FFF2-40B4-BE49-F238E27FC236}">
                  <a16:creationId xmlns:a16="http://schemas.microsoft.com/office/drawing/2014/main" id="{5F9D6FFA-CA4C-2994-C21C-5A984E6934C2}"/>
                </a:ext>
              </a:extLst>
            </p:cNvPr>
            <p:cNvSpPr/>
            <p:nvPr/>
          </p:nvSpPr>
          <p:spPr>
            <a:xfrm>
              <a:off x="988005" y="4176724"/>
              <a:ext cx="64922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Index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Shape 59">
              <a:extLst>
                <a:ext uri="{FF2B5EF4-FFF2-40B4-BE49-F238E27FC236}">
                  <a16:creationId xmlns:a16="http://schemas.microsoft.com/office/drawing/2014/main" id="{94439944-A8AA-5F0D-BA97-ED06B8CAF12B}"/>
                </a:ext>
              </a:extLst>
            </p:cNvPr>
            <p:cNvSpPr/>
            <p:nvPr/>
          </p:nvSpPr>
          <p:spPr>
            <a:xfrm>
              <a:off x="1655517" y="4149292"/>
              <a:ext cx="99441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 60">
              <a:extLst>
                <a:ext uri="{FF2B5EF4-FFF2-40B4-BE49-F238E27FC236}">
                  <a16:creationId xmlns:a16="http://schemas.microsoft.com/office/drawing/2014/main" id="{443525DC-1237-C98A-4A77-541D8590329A}"/>
                </a:ext>
              </a:extLst>
            </p:cNvPr>
            <p:cNvSpPr/>
            <p:nvPr/>
          </p:nvSpPr>
          <p:spPr>
            <a:xfrm>
              <a:off x="1673805" y="417672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Shape 61">
              <a:extLst>
                <a:ext uri="{FF2B5EF4-FFF2-40B4-BE49-F238E27FC236}">
                  <a16:creationId xmlns:a16="http://schemas.microsoft.com/office/drawing/2014/main" id="{0495DCAA-0F28-DFF9-E318-F30F960871E5}"/>
                </a:ext>
              </a:extLst>
            </p:cNvPr>
            <p:cNvSpPr/>
            <p:nvPr/>
          </p:nvSpPr>
          <p:spPr>
            <a:xfrm>
              <a:off x="2649927" y="4149292"/>
              <a:ext cx="99441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Text 62">
              <a:extLst>
                <a:ext uri="{FF2B5EF4-FFF2-40B4-BE49-F238E27FC236}">
                  <a16:creationId xmlns:a16="http://schemas.microsoft.com/office/drawing/2014/main" id="{CD5B56AB-9DE8-4CBF-1D0D-7E90CE66F88D}"/>
                </a:ext>
              </a:extLst>
            </p:cNvPr>
            <p:cNvSpPr/>
            <p:nvPr/>
          </p:nvSpPr>
          <p:spPr>
            <a:xfrm>
              <a:off x="2668215" y="417672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Shape 63">
              <a:extLst>
                <a:ext uri="{FF2B5EF4-FFF2-40B4-BE49-F238E27FC236}">
                  <a16:creationId xmlns:a16="http://schemas.microsoft.com/office/drawing/2014/main" id="{30BE2259-26BD-6C18-D637-D72B79996E05}"/>
                </a:ext>
              </a:extLst>
            </p:cNvPr>
            <p:cNvSpPr/>
            <p:nvPr/>
          </p:nvSpPr>
          <p:spPr>
            <a:xfrm>
              <a:off x="3644337" y="4149292"/>
              <a:ext cx="99441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Text 64">
              <a:extLst>
                <a:ext uri="{FF2B5EF4-FFF2-40B4-BE49-F238E27FC236}">
                  <a16:creationId xmlns:a16="http://schemas.microsoft.com/office/drawing/2014/main" id="{241DBDAE-C2D3-6041-D6CD-007AA572E391}"/>
                </a:ext>
              </a:extLst>
            </p:cNvPr>
            <p:cNvSpPr/>
            <p:nvPr/>
          </p:nvSpPr>
          <p:spPr>
            <a:xfrm>
              <a:off x="3662625" y="417672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Shape 65">
              <a:extLst>
                <a:ext uri="{FF2B5EF4-FFF2-40B4-BE49-F238E27FC236}">
                  <a16:creationId xmlns:a16="http://schemas.microsoft.com/office/drawing/2014/main" id="{8EB9CA73-DB92-0B42-1538-7C9BDB57F6D6}"/>
                </a:ext>
              </a:extLst>
            </p:cNvPr>
            <p:cNvSpPr/>
            <p:nvPr/>
          </p:nvSpPr>
          <p:spPr>
            <a:xfrm>
              <a:off x="4638747" y="4149292"/>
              <a:ext cx="99441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Text 66">
              <a:extLst>
                <a:ext uri="{FF2B5EF4-FFF2-40B4-BE49-F238E27FC236}">
                  <a16:creationId xmlns:a16="http://schemas.microsoft.com/office/drawing/2014/main" id="{845339D9-5091-8D01-82BE-2569316B2657}"/>
                </a:ext>
              </a:extLst>
            </p:cNvPr>
            <p:cNvSpPr/>
            <p:nvPr/>
          </p:nvSpPr>
          <p:spPr>
            <a:xfrm>
              <a:off x="4657035" y="417672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Shape 67">
              <a:extLst>
                <a:ext uri="{FF2B5EF4-FFF2-40B4-BE49-F238E27FC236}">
                  <a16:creationId xmlns:a16="http://schemas.microsoft.com/office/drawing/2014/main" id="{332711CC-CF12-4A6E-957A-3088DBFD100D}"/>
                </a:ext>
              </a:extLst>
            </p:cNvPr>
            <p:cNvSpPr/>
            <p:nvPr/>
          </p:nvSpPr>
          <p:spPr>
            <a:xfrm>
              <a:off x="969717" y="4537912"/>
              <a:ext cx="685800" cy="388620"/>
            </a:xfrm>
            <a:prstGeom prst="rect">
              <a:avLst/>
            </a:prstGeom>
            <a:solidFill>
              <a:srgbClr val="1F2937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 68">
              <a:extLst>
                <a:ext uri="{FF2B5EF4-FFF2-40B4-BE49-F238E27FC236}">
                  <a16:creationId xmlns:a16="http://schemas.microsoft.com/office/drawing/2014/main" id="{2AC3AD80-3881-B0BA-BA19-412806D24271}"/>
                </a:ext>
              </a:extLst>
            </p:cNvPr>
            <p:cNvSpPr/>
            <p:nvPr/>
          </p:nvSpPr>
          <p:spPr>
            <a:xfrm>
              <a:off x="988005" y="4565344"/>
              <a:ext cx="64922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Parent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Shape 69">
              <a:extLst>
                <a:ext uri="{FF2B5EF4-FFF2-40B4-BE49-F238E27FC236}">
                  <a16:creationId xmlns:a16="http://schemas.microsoft.com/office/drawing/2014/main" id="{A7BEFA8A-2350-AB27-175D-DCD8B1792F4C}"/>
                </a:ext>
              </a:extLst>
            </p:cNvPr>
            <p:cNvSpPr/>
            <p:nvPr/>
          </p:nvSpPr>
          <p:spPr>
            <a:xfrm>
              <a:off x="1655517" y="4537912"/>
              <a:ext cx="994410" cy="388620"/>
            </a:xfrm>
            <a:prstGeom prst="rect">
              <a:avLst/>
            </a:prstGeom>
            <a:solidFill>
              <a:srgbClr val="FFFFFF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 70">
              <a:extLst>
                <a:ext uri="{FF2B5EF4-FFF2-40B4-BE49-F238E27FC236}">
                  <a16:creationId xmlns:a16="http://schemas.microsoft.com/office/drawing/2014/main" id="{6513F6F2-9770-AFF3-55C3-29D2C6DBEE0A}"/>
                </a:ext>
              </a:extLst>
            </p:cNvPr>
            <p:cNvSpPr/>
            <p:nvPr/>
          </p:nvSpPr>
          <p:spPr>
            <a:xfrm>
              <a:off x="1673805" y="456534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Shape 71">
              <a:extLst>
                <a:ext uri="{FF2B5EF4-FFF2-40B4-BE49-F238E27FC236}">
                  <a16:creationId xmlns:a16="http://schemas.microsoft.com/office/drawing/2014/main" id="{F4336C66-0F57-0CB7-F0DA-30637D3BAF31}"/>
                </a:ext>
              </a:extLst>
            </p:cNvPr>
            <p:cNvSpPr/>
            <p:nvPr/>
          </p:nvSpPr>
          <p:spPr>
            <a:xfrm>
              <a:off x="2649927" y="4537912"/>
              <a:ext cx="994410" cy="388620"/>
            </a:xfrm>
            <a:prstGeom prst="rect">
              <a:avLst/>
            </a:prstGeom>
            <a:noFill/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Text 72">
              <a:extLst>
                <a:ext uri="{FF2B5EF4-FFF2-40B4-BE49-F238E27FC236}">
                  <a16:creationId xmlns:a16="http://schemas.microsoft.com/office/drawing/2014/main" id="{837C94A3-38A7-E7B5-C3D9-F4595C25D09A}"/>
                </a:ext>
              </a:extLst>
            </p:cNvPr>
            <p:cNvSpPr/>
            <p:nvPr/>
          </p:nvSpPr>
          <p:spPr>
            <a:xfrm>
              <a:off x="2668215" y="456534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Shape 73">
              <a:extLst>
                <a:ext uri="{FF2B5EF4-FFF2-40B4-BE49-F238E27FC236}">
                  <a16:creationId xmlns:a16="http://schemas.microsoft.com/office/drawing/2014/main" id="{C5F3499D-D25B-0CE5-0EF3-FD13DC73B755}"/>
                </a:ext>
              </a:extLst>
            </p:cNvPr>
            <p:cNvSpPr/>
            <p:nvPr/>
          </p:nvSpPr>
          <p:spPr>
            <a:xfrm>
              <a:off x="3644337" y="4537912"/>
              <a:ext cx="994410" cy="388620"/>
            </a:xfrm>
            <a:prstGeom prst="rect">
              <a:avLst/>
            </a:prstGeom>
            <a:noFill/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Text 74">
              <a:extLst>
                <a:ext uri="{FF2B5EF4-FFF2-40B4-BE49-F238E27FC236}">
                  <a16:creationId xmlns:a16="http://schemas.microsoft.com/office/drawing/2014/main" id="{037C94AB-3AD7-DCA1-E701-18CB31A07F37}"/>
                </a:ext>
              </a:extLst>
            </p:cNvPr>
            <p:cNvSpPr/>
            <p:nvPr/>
          </p:nvSpPr>
          <p:spPr>
            <a:xfrm>
              <a:off x="3662625" y="456534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Shape 75">
              <a:extLst>
                <a:ext uri="{FF2B5EF4-FFF2-40B4-BE49-F238E27FC236}">
                  <a16:creationId xmlns:a16="http://schemas.microsoft.com/office/drawing/2014/main" id="{BCDABA52-4463-06E9-2849-EB8F4D51C38F}"/>
                </a:ext>
              </a:extLst>
            </p:cNvPr>
            <p:cNvSpPr/>
            <p:nvPr/>
          </p:nvSpPr>
          <p:spPr>
            <a:xfrm>
              <a:off x="4638747" y="4537912"/>
              <a:ext cx="994410" cy="388620"/>
            </a:xfrm>
            <a:prstGeom prst="rect">
              <a:avLst/>
            </a:prstGeom>
            <a:solidFill>
              <a:srgbClr val="FFEDD5"/>
            </a:solidFill>
            <a:ln w="889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Text 76">
              <a:extLst>
                <a:ext uri="{FF2B5EF4-FFF2-40B4-BE49-F238E27FC236}">
                  <a16:creationId xmlns:a16="http://schemas.microsoft.com/office/drawing/2014/main" id="{8FC5B8A7-5DD5-3EBD-65B6-2BA43264B5D8}"/>
                </a:ext>
              </a:extLst>
            </p:cNvPr>
            <p:cNvSpPr/>
            <p:nvPr/>
          </p:nvSpPr>
          <p:spPr>
            <a:xfrm>
              <a:off x="4657035" y="4565344"/>
              <a:ext cx="95783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1" name="Text 77">
            <a:extLst>
              <a:ext uri="{FF2B5EF4-FFF2-40B4-BE49-F238E27FC236}">
                <a16:creationId xmlns:a16="http://schemas.microsoft.com/office/drawing/2014/main" id="{E8158D90-6942-6D09-5172-3ABE834D40B2}"/>
              </a:ext>
            </a:extLst>
          </p:cNvPr>
          <p:cNvSpPr/>
          <p:nvPr/>
        </p:nvSpPr>
        <p:spPr>
          <a:xfrm>
            <a:off x="6677023" y="3940233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schedule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4CF0027-9834-E696-7DCE-9E54E6F839B8}"/>
              </a:ext>
            </a:extLst>
          </p:cNvPr>
          <p:cNvGrpSpPr/>
          <p:nvPr/>
        </p:nvGrpSpPr>
        <p:grpSpPr>
          <a:xfrm>
            <a:off x="6677023" y="4311432"/>
            <a:ext cx="4645404" cy="615100"/>
            <a:chOff x="5072463" y="3936593"/>
            <a:chExt cx="5440680" cy="989939"/>
          </a:xfrm>
        </p:grpSpPr>
        <p:sp>
          <p:nvSpPr>
            <p:cNvPr id="115" name="Text 78">
              <a:extLst>
                <a:ext uri="{FF2B5EF4-FFF2-40B4-BE49-F238E27FC236}">
                  <a16:creationId xmlns:a16="http://schemas.microsoft.com/office/drawing/2014/main" id="{AC19A803-4E43-B629-502B-DF57C5311DA0}"/>
                </a:ext>
              </a:extLst>
            </p:cNvPr>
            <p:cNvSpPr/>
            <p:nvPr/>
          </p:nvSpPr>
          <p:spPr>
            <a:xfrm>
              <a:off x="5072463" y="3948124"/>
              <a:ext cx="17647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#1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Shape 79">
              <a:extLst>
                <a:ext uri="{FF2B5EF4-FFF2-40B4-BE49-F238E27FC236}">
                  <a16:creationId xmlns:a16="http://schemas.microsoft.com/office/drawing/2014/main" id="{F5FED6BF-74CD-A81D-8D15-8859ADAB0E6D}"/>
                </a:ext>
              </a:extLst>
            </p:cNvPr>
            <p:cNvSpPr/>
            <p:nvPr/>
          </p:nvSpPr>
          <p:spPr>
            <a:xfrm>
              <a:off x="5072463" y="4240732"/>
              <a:ext cx="1764792" cy="685800"/>
            </a:xfrm>
            <a:prstGeom prst="roundRect">
              <a:avLst>
                <a:gd name="adj" fmla="val 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397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Text 80">
              <a:extLst>
                <a:ext uri="{FF2B5EF4-FFF2-40B4-BE49-F238E27FC236}">
                  <a16:creationId xmlns:a16="http://schemas.microsoft.com/office/drawing/2014/main" id="{DD19E635-75C8-5C9C-F0B1-56043FC039D8}"/>
                </a:ext>
              </a:extLst>
            </p:cNvPr>
            <p:cNvSpPr/>
            <p:nvPr/>
          </p:nvSpPr>
          <p:spPr>
            <a:xfrm>
              <a:off x="5090751" y="4464760"/>
              <a:ext cx="17282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J3</a:t>
              </a:r>
            </a:p>
          </p:txBody>
        </p:sp>
        <p:sp>
          <p:nvSpPr>
            <p:cNvPr id="121" name="Text 81">
              <a:extLst>
                <a:ext uri="{FF2B5EF4-FFF2-40B4-BE49-F238E27FC236}">
                  <a16:creationId xmlns:a16="http://schemas.microsoft.com/office/drawing/2014/main" id="{4831B1F2-1032-174C-9769-1052268F4F98}"/>
                </a:ext>
              </a:extLst>
            </p:cNvPr>
            <p:cNvSpPr/>
            <p:nvPr/>
          </p:nvSpPr>
          <p:spPr>
            <a:xfrm>
              <a:off x="6910407" y="3948124"/>
              <a:ext cx="17647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#2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Shape 82">
              <a:extLst>
                <a:ext uri="{FF2B5EF4-FFF2-40B4-BE49-F238E27FC236}">
                  <a16:creationId xmlns:a16="http://schemas.microsoft.com/office/drawing/2014/main" id="{E5751428-31FF-127C-03E0-6A9FD9F2C2FB}"/>
                </a:ext>
              </a:extLst>
            </p:cNvPr>
            <p:cNvSpPr/>
            <p:nvPr/>
          </p:nvSpPr>
          <p:spPr>
            <a:xfrm>
              <a:off x="6910407" y="4240732"/>
              <a:ext cx="1764792" cy="685800"/>
            </a:xfrm>
            <a:prstGeom prst="roundRect">
              <a:avLst>
                <a:gd name="adj" fmla="val 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397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Text 83">
              <a:extLst>
                <a:ext uri="{FF2B5EF4-FFF2-40B4-BE49-F238E27FC236}">
                  <a16:creationId xmlns:a16="http://schemas.microsoft.com/office/drawing/2014/main" id="{051103FA-B296-CFB9-05F3-CE6D6FB6CFA5}"/>
                </a:ext>
              </a:extLst>
            </p:cNvPr>
            <p:cNvSpPr/>
            <p:nvPr/>
          </p:nvSpPr>
          <p:spPr>
            <a:xfrm>
              <a:off x="6928695" y="4464760"/>
              <a:ext cx="17282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J1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Text 84">
              <a:extLst>
                <a:ext uri="{FF2B5EF4-FFF2-40B4-BE49-F238E27FC236}">
                  <a16:creationId xmlns:a16="http://schemas.microsoft.com/office/drawing/2014/main" id="{1F6C8575-D4F3-AF53-C717-0D0E916FFA5E}"/>
                </a:ext>
              </a:extLst>
            </p:cNvPr>
            <p:cNvSpPr/>
            <p:nvPr/>
          </p:nvSpPr>
          <p:spPr>
            <a:xfrm>
              <a:off x="8730063" y="3936593"/>
              <a:ext cx="17647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#3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Shape 85">
              <a:extLst>
                <a:ext uri="{FF2B5EF4-FFF2-40B4-BE49-F238E27FC236}">
                  <a16:creationId xmlns:a16="http://schemas.microsoft.com/office/drawing/2014/main" id="{549D33B9-B07B-18F7-90AA-B2FDD6A2A674}"/>
                </a:ext>
              </a:extLst>
            </p:cNvPr>
            <p:cNvSpPr/>
            <p:nvPr/>
          </p:nvSpPr>
          <p:spPr>
            <a:xfrm>
              <a:off x="8748351" y="4240732"/>
              <a:ext cx="1764792" cy="685800"/>
            </a:xfrm>
            <a:prstGeom prst="roundRect">
              <a:avLst>
                <a:gd name="adj" fmla="val 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397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LID4096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1" name="Text 86">
              <a:extLst>
                <a:ext uri="{FF2B5EF4-FFF2-40B4-BE49-F238E27FC236}">
                  <a16:creationId xmlns:a16="http://schemas.microsoft.com/office/drawing/2014/main" id="{BCB8B2D9-9F61-2DE7-4579-94B7D0AF8FE5}"/>
                </a:ext>
              </a:extLst>
            </p:cNvPr>
            <p:cNvSpPr/>
            <p:nvPr/>
          </p:nvSpPr>
          <p:spPr>
            <a:xfrm>
              <a:off x="8766639" y="4464760"/>
              <a:ext cx="17282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J5</a:t>
              </a:r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49B555-CB56-A50D-D1CE-96A133E2DB58}"/>
              </a:ext>
            </a:extLst>
          </p:cNvPr>
          <p:cNvCxnSpPr/>
          <p:nvPr/>
        </p:nvCxnSpPr>
        <p:spPr>
          <a:xfrm>
            <a:off x="952977" y="947233"/>
            <a:ext cx="1035261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504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55799-3D59-D911-196C-3A0E5DE61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6C6BA-F43F-B5A9-5EB4-8A1409F18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68602"/>
            <a:ext cx="8582024" cy="5207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Use DSU?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FF95E-22F6-0997-E370-CC25126CD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440" y="1025887"/>
            <a:ext cx="10429120" cy="385783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DSU helps us find the latest available slot quickly instead of checking every slot one by one.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57941BC-419E-1604-2BE5-63081466EE20}"/>
              </a:ext>
            </a:extLst>
          </p:cNvPr>
          <p:cNvSpPr/>
          <p:nvPr/>
        </p:nvSpPr>
        <p:spPr>
          <a:xfrm>
            <a:off x="2249804" y="1880740"/>
            <a:ext cx="3500060" cy="2057400"/>
          </a:xfrm>
          <a:prstGeom prst="roundRect">
            <a:avLst>
              <a:gd name="adj" fmla="val 3556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4515FAA-6990-1B29-8C28-EF081F99836E}"/>
              </a:ext>
            </a:extLst>
          </p:cNvPr>
          <p:cNvSpPr/>
          <p:nvPr/>
        </p:nvSpPr>
        <p:spPr>
          <a:xfrm>
            <a:off x="2249802" y="2235271"/>
            <a:ext cx="3500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Search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39A7820-1173-D945-7E69-BA25D7EFD223}"/>
              </a:ext>
            </a:extLst>
          </p:cNvPr>
          <p:cNvSpPr/>
          <p:nvPr/>
        </p:nvSpPr>
        <p:spPr>
          <a:xfrm>
            <a:off x="2524124" y="2589400"/>
            <a:ext cx="28371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deadline 5, it may check: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Slot 5 → Slot 4 → Slot 3 → Slot 2 → Slot 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0E37130D-CEDE-83A6-9643-C0E5B07310AF}"/>
              </a:ext>
            </a:extLst>
          </p:cNvPr>
          <p:cNvSpPr/>
          <p:nvPr/>
        </p:nvSpPr>
        <p:spPr>
          <a:xfrm>
            <a:off x="6024184" y="1880740"/>
            <a:ext cx="3371330" cy="2057400"/>
          </a:xfrm>
          <a:prstGeom prst="roundRect">
            <a:avLst>
              <a:gd name="adj" fmla="val 3556"/>
            </a:avLst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8E5E3521-B35D-07A8-6A28-2ECB4EC81788}"/>
              </a:ext>
            </a:extLst>
          </p:cNvPr>
          <p:cNvSpPr/>
          <p:nvPr/>
        </p:nvSpPr>
        <p:spPr>
          <a:xfrm>
            <a:off x="5469569" y="2278555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DSU Search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11A34456-93B8-64B6-167C-1A69AAF31463}"/>
              </a:ext>
            </a:extLst>
          </p:cNvPr>
          <p:cNvSpPr/>
          <p:nvPr/>
        </p:nvSpPr>
        <p:spPr>
          <a:xfrm>
            <a:off x="6024184" y="2543731"/>
            <a:ext cx="33579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 directly: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“What is the latest free slot before deadline 5?”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DSU jumps to the answer faster.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39BE0BE7-BD44-CAA7-16A1-61DC292C920D}"/>
              </a:ext>
            </a:extLst>
          </p:cNvPr>
          <p:cNvSpPr/>
          <p:nvPr/>
        </p:nvSpPr>
        <p:spPr>
          <a:xfrm>
            <a:off x="2191324" y="4297351"/>
            <a:ext cx="2103120" cy="329184"/>
          </a:xfrm>
          <a:prstGeom prst="rect">
            <a:avLst/>
          </a:prstGeom>
          <a:solidFill>
            <a:srgbClr val="2563EB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C4FB7559-FC98-C3BE-73F4-B12616B283B7}"/>
              </a:ext>
            </a:extLst>
          </p:cNvPr>
          <p:cNvSpPr/>
          <p:nvPr/>
        </p:nvSpPr>
        <p:spPr>
          <a:xfrm>
            <a:off x="2249802" y="4333927"/>
            <a:ext cx="2026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6891BE7B-E72C-1DA0-FFBC-D7DFE877869B}"/>
              </a:ext>
            </a:extLst>
          </p:cNvPr>
          <p:cNvSpPr/>
          <p:nvPr/>
        </p:nvSpPr>
        <p:spPr>
          <a:xfrm>
            <a:off x="4294444" y="4297351"/>
            <a:ext cx="2984560" cy="329184"/>
          </a:xfrm>
          <a:prstGeom prst="rect">
            <a:avLst/>
          </a:prstGeom>
          <a:solidFill>
            <a:srgbClr val="2563EB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E4763AC6-4258-F69F-2D88-AB37C7A05F5D}"/>
              </a:ext>
            </a:extLst>
          </p:cNvPr>
          <p:cNvSpPr/>
          <p:nvPr/>
        </p:nvSpPr>
        <p:spPr>
          <a:xfrm>
            <a:off x="4312732" y="4333927"/>
            <a:ext cx="296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Approach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2932A03C-0701-D35B-5776-D7A7B823D29B}"/>
              </a:ext>
            </a:extLst>
          </p:cNvPr>
          <p:cNvSpPr/>
          <p:nvPr/>
        </p:nvSpPr>
        <p:spPr>
          <a:xfrm>
            <a:off x="7283903" y="4297351"/>
            <a:ext cx="2111612" cy="329184"/>
          </a:xfrm>
          <a:prstGeom prst="rect">
            <a:avLst/>
          </a:prstGeom>
          <a:solidFill>
            <a:srgbClr val="2563EB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96A6653C-FDD7-A66F-F3F5-FF63A86C9975}"/>
              </a:ext>
            </a:extLst>
          </p:cNvPr>
          <p:cNvSpPr/>
          <p:nvPr/>
        </p:nvSpPr>
        <p:spPr>
          <a:xfrm>
            <a:off x="7297292" y="4333927"/>
            <a:ext cx="20982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DSU Approach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23D066B4-75EE-2569-D262-AABC3176B3C2}"/>
              </a:ext>
            </a:extLst>
          </p:cNvPr>
          <p:cNvSpPr/>
          <p:nvPr/>
        </p:nvSpPr>
        <p:spPr>
          <a:xfrm>
            <a:off x="2191324" y="4626535"/>
            <a:ext cx="21031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7AD84799-ADF2-6694-4589-6722F11DFFE3}"/>
              </a:ext>
            </a:extLst>
          </p:cNvPr>
          <p:cNvSpPr/>
          <p:nvPr/>
        </p:nvSpPr>
        <p:spPr>
          <a:xfrm>
            <a:off x="2249802" y="4663111"/>
            <a:ext cx="2026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Finds free slot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17">
            <a:extLst>
              <a:ext uri="{FF2B5EF4-FFF2-40B4-BE49-F238E27FC236}">
                <a16:creationId xmlns:a16="http://schemas.microsoft.com/office/drawing/2014/main" id="{E35B9FA9-FB5D-1195-396A-ECC0898A090E}"/>
              </a:ext>
            </a:extLst>
          </p:cNvPr>
          <p:cNvSpPr/>
          <p:nvPr/>
        </p:nvSpPr>
        <p:spPr>
          <a:xfrm>
            <a:off x="4294444" y="4626535"/>
            <a:ext cx="29845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93043AA4-90C4-E421-7936-51B0B4C7FF9F}"/>
              </a:ext>
            </a:extLst>
          </p:cNvPr>
          <p:cNvSpPr/>
          <p:nvPr/>
        </p:nvSpPr>
        <p:spPr>
          <a:xfrm>
            <a:off x="4312732" y="4663111"/>
            <a:ext cx="296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 one by one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19">
            <a:extLst>
              <a:ext uri="{FF2B5EF4-FFF2-40B4-BE49-F238E27FC236}">
                <a16:creationId xmlns:a16="http://schemas.microsoft.com/office/drawing/2014/main" id="{D2B6595D-BB28-56A8-1CDE-A4350BB3414E}"/>
              </a:ext>
            </a:extLst>
          </p:cNvPr>
          <p:cNvSpPr/>
          <p:nvPr/>
        </p:nvSpPr>
        <p:spPr>
          <a:xfrm>
            <a:off x="7283903" y="4626535"/>
            <a:ext cx="209822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20">
            <a:extLst>
              <a:ext uri="{FF2B5EF4-FFF2-40B4-BE49-F238E27FC236}">
                <a16:creationId xmlns:a16="http://schemas.microsoft.com/office/drawing/2014/main" id="{0B28BB1E-9618-B4E4-FFE0-FDC6567BF483}"/>
              </a:ext>
            </a:extLst>
          </p:cNvPr>
          <p:cNvSpPr/>
          <p:nvPr/>
        </p:nvSpPr>
        <p:spPr>
          <a:xfrm>
            <a:off x="7297292" y="4663111"/>
            <a:ext cx="20982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FIND()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21">
            <a:extLst>
              <a:ext uri="{FF2B5EF4-FFF2-40B4-BE49-F238E27FC236}">
                <a16:creationId xmlns:a16="http://schemas.microsoft.com/office/drawing/2014/main" id="{5F03C818-8B58-973F-0172-DE7A75D68000}"/>
              </a:ext>
            </a:extLst>
          </p:cNvPr>
          <p:cNvSpPr/>
          <p:nvPr/>
        </p:nvSpPr>
        <p:spPr>
          <a:xfrm>
            <a:off x="2191324" y="4955719"/>
            <a:ext cx="21031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20CF93E5-25BE-1487-55E3-057487F037DB}"/>
              </a:ext>
            </a:extLst>
          </p:cNvPr>
          <p:cNvSpPr/>
          <p:nvPr/>
        </p:nvSpPr>
        <p:spPr>
          <a:xfrm>
            <a:off x="2249802" y="4992295"/>
            <a:ext cx="2026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 slot used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23">
            <a:extLst>
              <a:ext uri="{FF2B5EF4-FFF2-40B4-BE49-F238E27FC236}">
                <a16:creationId xmlns:a16="http://schemas.microsoft.com/office/drawing/2014/main" id="{5A146FCA-BC7C-CC85-319C-E2FAC15A3608}"/>
              </a:ext>
            </a:extLst>
          </p:cNvPr>
          <p:cNvSpPr/>
          <p:nvPr/>
        </p:nvSpPr>
        <p:spPr>
          <a:xfrm>
            <a:off x="4294444" y="4955719"/>
            <a:ext cx="29845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 24">
            <a:extLst>
              <a:ext uri="{FF2B5EF4-FFF2-40B4-BE49-F238E27FC236}">
                <a16:creationId xmlns:a16="http://schemas.microsoft.com/office/drawing/2014/main" id="{EF2C214F-4091-EE01-44A5-E518B286297F}"/>
              </a:ext>
            </a:extLst>
          </p:cNvPr>
          <p:cNvSpPr/>
          <p:nvPr/>
        </p:nvSpPr>
        <p:spPr>
          <a:xfrm>
            <a:off x="4312732" y="4992295"/>
            <a:ext cx="296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slot[j] = 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Shape 25">
            <a:extLst>
              <a:ext uri="{FF2B5EF4-FFF2-40B4-BE49-F238E27FC236}">
                <a16:creationId xmlns:a16="http://schemas.microsoft.com/office/drawing/2014/main" id="{457D9706-BA91-3A21-A670-04F370CD028C}"/>
              </a:ext>
            </a:extLst>
          </p:cNvPr>
          <p:cNvSpPr/>
          <p:nvPr/>
        </p:nvSpPr>
        <p:spPr>
          <a:xfrm>
            <a:off x="7283903" y="4955719"/>
            <a:ext cx="209822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LID4096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26">
            <a:extLst>
              <a:ext uri="{FF2B5EF4-FFF2-40B4-BE49-F238E27FC236}">
                <a16:creationId xmlns:a16="http://schemas.microsoft.com/office/drawing/2014/main" id="{27945811-D735-6359-7C8A-D82E7831CB2B}"/>
              </a:ext>
            </a:extLst>
          </p:cNvPr>
          <p:cNvSpPr/>
          <p:nvPr/>
        </p:nvSpPr>
        <p:spPr>
          <a:xfrm>
            <a:off x="7297292" y="4992295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parent[slot] = previous free slot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A5E9341-CE78-F77A-CA87-B378E3FF2112}"/>
              </a:ext>
            </a:extLst>
          </p:cNvPr>
          <p:cNvCxnSpPr/>
          <p:nvPr/>
        </p:nvCxnSpPr>
        <p:spPr>
          <a:xfrm>
            <a:off x="957943" y="881919"/>
            <a:ext cx="1035261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5209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1756</Words>
  <Application>Microsoft Office PowerPoint</Application>
  <PresentationFormat>Widescreen</PresentationFormat>
  <Paragraphs>475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Office Theme</vt:lpstr>
      <vt:lpstr>Job sequencing using DSU Algorithm</vt:lpstr>
      <vt:lpstr>Main Idea</vt:lpstr>
      <vt:lpstr>Natural Language Specification</vt:lpstr>
      <vt:lpstr>Pseudocode Notation</vt:lpstr>
      <vt:lpstr>Example #1</vt:lpstr>
      <vt:lpstr>Example #1 (Cont.)</vt:lpstr>
      <vt:lpstr>Example #1 (Cont.)</vt:lpstr>
      <vt:lpstr>Example #1 (Cont.)</vt:lpstr>
      <vt:lpstr>Example #1 (Cont.)</vt:lpstr>
      <vt:lpstr>Example #1 (Cont.)</vt:lpstr>
      <vt:lpstr>Why Do We Use DSU?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席武牧</dc:creator>
  <cp:lastModifiedBy>席武牧</cp:lastModifiedBy>
  <cp:revision>14</cp:revision>
  <dcterms:created xsi:type="dcterms:W3CDTF">2026-05-16T16:34:24Z</dcterms:created>
  <dcterms:modified xsi:type="dcterms:W3CDTF">2026-05-18T23:34:50Z</dcterms:modified>
</cp:coreProperties>
</file>