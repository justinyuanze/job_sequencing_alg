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70" r:id="rId6"/>
    <p:sldId id="258" r:id="rId7"/>
    <p:sldId id="260" r:id="rId8"/>
    <p:sldId id="261" r:id="rId9"/>
    <p:sldId id="271" r:id="rId10"/>
    <p:sldId id="272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000"/>
    <a:srgbClr val="EAEAEA"/>
    <a:srgbClr val="14143C"/>
    <a:srgbClr val="FFCC66"/>
    <a:srgbClr val="FF505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44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B234F-C254-4838-88D6-FBC80F481C09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8C62D-D98D-413D-AF02-0CC3FE8A68F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39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latestSlot ← min(n, job.deadline) – 1 #This finds the latest possible slot where the job can be placed.</a:t>
            </a:r>
          </a:p>
          <a:p>
            <a:r>
              <a:rPr lang="" dirty="0"/>
              <a:t>Why substract 1?</a:t>
            </a:r>
          </a:p>
          <a:p>
            <a:r>
              <a:rPr lang="" dirty="0"/>
              <a:t>Because arrays start from index 0</a:t>
            </a:r>
          </a:p>
          <a:p>
            <a:endParaRPr lang="" dirty="0"/>
          </a:p>
          <a:p>
            <a:r>
              <a:rPr lang="" dirty="0"/>
              <a:t>The algorithm searches backward from the latest possible slot.</a:t>
            </a:r>
          </a:p>
          <a:p>
            <a:r>
              <a:rPr lang="" dirty="0"/>
              <a:t>Why backward?</a:t>
            </a:r>
          </a:p>
          <a:p>
            <a:r>
              <a:rPr lang="" dirty="0"/>
              <a:t>Because we want to place the job as late as possible, leaving earlier slots open for jobs with earlier deadlines.</a:t>
            </a:r>
          </a:p>
          <a:p>
            <a:endParaRPr lang="" dirty="0"/>
          </a:p>
          <a:p>
            <a:r>
              <a:rPr lang="" dirty="0"/>
              <a:t>At the end, the algorithm returns: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number of jobs scheduled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total profit earned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0507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1440-BB58-7031-9325-87B4390B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CE23D-9D84-EC94-6CFF-EFE1BF23E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E73A-CAE4-B9F6-C73D-C2B89A75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9BB0-E714-88AC-9D5B-105FCA2F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84A2-057C-FD11-6591-4FC70C96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94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1CE2-AB92-28DF-CA63-9FC84EE4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0D9-DB27-D29F-A4AA-56700F7FE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C533-DF36-08BB-BAAF-ADDBB680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D3FF-4784-F662-74B9-A049B197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B1C9-653F-6CEF-C03C-17B30296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991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94EF-E852-B7AA-4074-BF8B5A51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02814-DFC9-3546-F99D-11878C501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08EC-E7C4-9F45-0EC9-FF66274B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4D0A-FB7A-601E-8C22-08F10CE4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EEC7-7372-0F16-8E4F-2775171A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318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08E7-E4EE-F6B2-1A2A-397170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A166-088C-36AF-27F1-D69FBBC76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7F6D7-CF36-FE53-C014-3DAB0834C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ABD56-7748-1EF2-3C47-5E1692D6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92AFD-69C9-DE4D-8179-A80043DC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CBAD-87F1-EBB3-9CFD-EFA92F27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33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F35F-61AA-B9A4-0000-4F811E63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674DE-3C1C-5B25-D952-2500B2D54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5B04-69AF-0F1E-9AD3-B29A666C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99628-00DB-ED05-743A-A6072F38C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47089-4BF3-FFA8-39C3-67C11E209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8CD37-7825-E420-4414-6EC128E3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10C5-D47C-AA63-D4EB-82A890F3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93CCA-C33A-2C34-5718-10B0FC98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679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56B7-B9AD-E00F-3C68-095BFAB6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D9AB4-9F03-A357-0790-BAFAB286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0823D-D8E3-961A-228F-B26E3910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660A-43F7-92FB-FA97-0CE2A70D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818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A764A-0261-D52A-EE5C-C7CC170C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6AA5A-D960-026C-897C-39177573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677F-F535-4B92-7F33-D70DCC2B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57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735B-1532-7BA2-A1C1-908C8E21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877D-5F09-1E70-D835-2FE98853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057AB-4BD2-36A3-5995-5A0301CA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1F175-1685-AF2D-DE1E-6BB9686E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92F66-411D-9DAD-511A-CC1A4BF2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6850D-BBCA-F380-D5CE-EE69856F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000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E5A2-918B-27D0-AB8C-FF771247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A7EF0-91FC-8157-06CE-E67FCA98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31F2D-050B-E67F-F642-BAA53A985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8DF81-A398-997A-B8CA-113FA81C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9241-DA1D-EFF4-F53C-98174642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391BA-8C3F-EFCC-1851-FEDED971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645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26AE-50A0-45E0-ECBE-DF4D619C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B946-A776-F51A-5C2B-40C6BBE0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E7250-9083-830A-06FE-5121AEC8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C878-D3F2-3885-D5F7-2412227A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B54FB-17E8-60CB-C9E7-6A90CAEE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340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AFE88-3D80-4EF0-B9BC-1CCFB2C3C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2400-64C4-ED04-99E9-4C6115AE6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5199-DB16-5954-A3D1-EB405685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DA63-88A4-511B-6A89-FA00DE35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4869-EC64-758F-000F-71931BF2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274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C44E8-4503-F36C-A3EE-2459A220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19958-2EB3-69C7-8092-3E60328EA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D5CB2-E4B5-8AC9-8C1A-A1FF992AC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27C67-B07D-472E-9198-31A3CA13BAF5}" type="datetimeFigureOut">
              <a:rPr lang="LID4096" smtClean="0"/>
              <a:t>05/22/2026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0FCB-7CE6-0077-D3B9-D49282495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9D3C-3586-7DA1-FA42-7C56F56E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36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725D-FFDD-D0C4-1843-F4E4C007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982" y="252858"/>
            <a:ext cx="9144000" cy="583256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sequencing Min-Heap Approach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0CE3B-5483-55FF-A0C2-D6704EFED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982" y="916531"/>
            <a:ext cx="9229299" cy="6096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Job has:</a:t>
            </a:r>
            <a:endParaRPr lang="LID4096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DEBCFA-953B-052E-E02A-53C246F8A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06864"/>
              </p:ext>
            </p:extLst>
          </p:nvPr>
        </p:nvGraphicFramePr>
        <p:xfrm>
          <a:off x="858982" y="1606548"/>
          <a:ext cx="10146215" cy="252296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35029">
                  <a:extLst>
                    <a:ext uri="{9D8B030D-6E8A-4147-A177-3AD203B41FA5}">
                      <a16:colId xmlns:a16="http://schemas.microsoft.com/office/drawing/2014/main" val="994747369"/>
                    </a:ext>
                  </a:extLst>
                </a:gridCol>
                <a:gridCol w="8811186">
                  <a:extLst>
                    <a:ext uri="{9D8B030D-6E8A-4147-A177-3AD203B41FA5}">
                      <a16:colId xmlns:a16="http://schemas.microsoft.com/office/drawing/2014/main" val="1570146255"/>
                    </a:ext>
                  </a:extLst>
                </a:gridCol>
              </a:tblGrid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747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reward earned if the job is completed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99583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latest time slot where the job must be completed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44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Min-Heap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data structure where the smallest profit is always easy to remove</a:t>
                      </a:r>
                      <a:endParaRPr lang="LID4096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917660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2B43480-9E08-2408-19C8-6470BDFB0B13}"/>
              </a:ext>
            </a:extLst>
          </p:cNvPr>
          <p:cNvGrpSpPr/>
          <p:nvPr/>
        </p:nvGrpSpPr>
        <p:grpSpPr>
          <a:xfrm>
            <a:off x="889509" y="5228864"/>
            <a:ext cx="10062278" cy="535666"/>
            <a:chOff x="1524000" y="5261812"/>
            <a:chExt cx="9095803" cy="53566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AAB9A7-F797-E8F1-3CDC-EDBAE7AE1955}"/>
                </a:ext>
              </a:extLst>
            </p:cNvPr>
            <p:cNvSpPr/>
            <p:nvPr/>
          </p:nvSpPr>
          <p:spPr>
            <a:xfrm>
              <a:off x="1524000" y="5261812"/>
              <a:ext cx="41203" cy="53566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CB8B05C9-7545-72BB-D138-2BF6C57987D8}"/>
                </a:ext>
              </a:extLst>
            </p:cNvPr>
            <p:cNvSpPr txBox="1">
              <a:spLocks/>
            </p:cNvSpPr>
            <p:nvPr/>
          </p:nvSpPr>
          <p:spPr>
            <a:xfrm>
              <a:off x="1544601" y="5273106"/>
              <a:ext cx="9075202" cy="51307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algn="l">
                <a:lnSpc>
                  <a:spcPct val="150000"/>
                </a:lnSpc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Choosing the best jobs that can fit before their deadline and maximum the total profit.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31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E6B2-1923-9487-312E-20F31BE1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55363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0402-D442-1D2B-7E8E-C151EBE3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515" y="1164771"/>
            <a:ext cx="10410970" cy="46550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uses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 with a min-heap: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like this: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jobs be deadline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through jobs one by one.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job if there is still enough available time before its deadline.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space, compare it with the smallest-profit selected job.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new job has more profit, replace the smaller-profit job.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end, add all profits inside the heap.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F6C712-D03A-4E6E-677F-40AA7421AC92}"/>
              </a:ext>
            </a:extLst>
          </p:cNvPr>
          <p:cNvGrpSpPr/>
          <p:nvPr/>
        </p:nvGrpSpPr>
        <p:grpSpPr>
          <a:xfrm>
            <a:off x="838201" y="5379721"/>
            <a:ext cx="10410970" cy="665481"/>
            <a:chOff x="1478052" y="5261812"/>
            <a:chExt cx="9144000" cy="6654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FEF676-2617-EEA1-0268-C11720354A0C}"/>
                </a:ext>
              </a:extLst>
            </p:cNvPr>
            <p:cNvSpPr/>
            <p:nvPr/>
          </p:nvSpPr>
          <p:spPr>
            <a:xfrm>
              <a:off x="1524000" y="5261812"/>
              <a:ext cx="45719" cy="6096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B7FB707A-74EC-C338-907E-F0F78ED65D3D}"/>
                </a:ext>
              </a:extLst>
            </p:cNvPr>
            <p:cNvSpPr txBox="1">
              <a:spLocks/>
            </p:cNvSpPr>
            <p:nvPr/>
          </p:nvSpPr>
          <p:spPr>
            <a:xfrm>
              <a:off x="1478052" y="5317693"/>
              <a:ext cx="9144000" cy="6096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algn="l">
                <a:lnSpc>
                  <a:spcPct val="150000"/>
                </a:lnSpc>
              </a:pP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min-heap helps us quickly remove the job with the lowest profit when a better job appears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331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A9A1-2DC7-8582-B09F-9238CF4C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Analogy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FCBBC-7238-4B2E-D4F1-11C11371A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2765"/>
            <a:ext cx="814537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 are choosing assignments to complete before their deadline.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limited time, so you cannot complete every assignment.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first, you accepts assignments that still fit your schedule.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if your schedule is already full and a better assignment appears, you ask: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Is this new assignment worth more marks than the lowest-mark assignment I already selected?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yes, you remove the lower-mark assignment and keep the better one.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exactly what the min-heap does</a:t>
            </a:r>
            <a:endParaRPr lang="LID4096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0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1695D-6FDD-B251-B526-21552F85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Min-Heap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4DF4-37E1-D0CF-093B-802EC5BC2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8260"/>
            <a:ext cx="6649716" cy="53946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min-heap is a data structure where the smallest value is always at the top.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algorithm, the min-heap stores selected job profits.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profit is: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if the new job has a profit 27, we compare it with 15.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Since: 27 &gt; 15. we remove 15 and insert 27. This improves the total profit.</a:t>
            </a:r>
            <a:endParaRPr lang="LID4096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C1ACB2-972C-269F-52D3-6038D86DF9A6}"/>
              </a:ext>
            </a:extLst>
          </p:cNvPr>
          <p:cNvGrpSpPr/>
          <p:nvPr/>
        </p:nvGrpSpPr>
        <p:grpSpPr>
          <a:xfrm>
            <a:off x="7622539" y="1677591"/>
            <a:ext cx="3731261" cy="1818079"/>
            <a:chOff x="7622539" y="2129039"/>
            <a:chExt cx="3731261" cy="18180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AD9A10-660D-5965-B667-7FAACF596B94}"/>
                </a:ext>
              </a:extLst>
            </p:cNvPr>
            <p:cNvSpPr/>
            <p:nvPr/>
          </p:nvSpPr>
          <p:spPr>
            <a:xfrm>
              <a:off x="8874736" y="3059609"/>
              <a:ext cx="1203158" cy="417095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LID4096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7CF3D70-9FDB-DB97-E004-228E3F3B1CC1}"/>
                </a:ext>
              </a:extLst>
            </p:cNvPr>
            <p:cNvGrpSpPr/>
            <p:nvPr/>
          </p:nvGrpSpPr>
          <p:grpSpPr>
            <a:xfrm>
              <a:off x="7622539" y="2129039"/>
              <a:ext cx="3731261" cy="1818079"/>
              <a:chOff x="6096000" y="2053388"/>
              <a:chExt cx="3731261" cy="1818079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E720992-1133-2889-6BBB-641EB86B459C}"/>
                  </a:ext>
                </a:extLst>
              </p:cNvPr>
              <p:cNvGrpSpPr/>
              <p:nvPr/>
            </p:nvGrpSpPr>
            <p:grpSpPr>
              <a:xfrm>
                <a:off x="6096000" y="2053388"/>
                <a:ext cx="3707552" cy="1818079"/>
                <a:chOff x="6096000" y="2053388"/>
                <a:chExt cx="3707552" cy="1818079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4E42FBE1-684F-B8AC-CA36-B20C1D0FEB21}"/>
                    </a:ext>
                  </a:extLst>
                </p:cNvPr>
                <p:cNvSpPr/>
                <p:nvPr/>
              </p:nvSpPr>
              <p:spPr>
                <a:xfrm>
                  <a:off x="6096000" y="2053389"/>
                  <a:ext cx="1203158" cy="41709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Job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A8BF3DD-DC95-90F0-5721-4173168A8739}"/>
                    </a:ext>
                  </a:extLst>
                </p:cNvPr>
                <p:cNvSpPr/>
                <p:nvPr/>
              </p:nvSpPr>
              <p:spPr>
                <a:xfrm>
                  <a:off x="6096000" y="2513545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J1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2D23D7B-2736-DC81-B4F4-985396CF3731}"/>
                    </a:ext>
                  </a:extLst>
                </p:cNvPr>
                <p:cNvSpPr/>
                <p:nvPr/>
              </p:nvSpPr>
              <p:spPr>
                <a:xfrm>
                  <a:off x="7348197" y="2513544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B0DEBBE-9BAE-8DCB-B1F4-44580B06CEAE}"/>
                    </a:ext>
                  </a:extLst>
                </p:cNvPr>
                <p:cNvSpPr/>
                <p:nvPr/>
              </p:nvSpPr>
              <p:spPr>
                <a:xfrm>
                  <a:off x="8600394" y="2053388"/>
                  <a:ext cx="1203158" cy="41709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Profit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A65B7B19-B808-30CD-B488-F0A60AC00C85}"/>
                    </a:ext>
                  </a:extLst>
                </p:cNvPr>
                <p:cNvSpPr/>
                <p:nvPr/>
              </p:nvSpPr>
              <p:spPr>
                <a:xfrm>
                  <a:off x="7348197" y="2060786"/>
                  <a:ext cx="1203158" cy="41709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Deadline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C0231453-98D5-038D-8D25-D8D87ED25289}"/>
                    </a:ext>
                  </a:extLst>
                </p:cNvPr>
                <p:cNvSpPr/>
                <p:nvPr/>
              </p:nvSpPr>
              <p:spPr>
                <a:xfrm>
                  <a:off x="8598933" y="2983957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27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D86D6912-F38A-B333-A3BB-100BBD9A5B00}"/>
                    </a:ext>
                  </a:extLst>
                </p:cNvPr>
                <p:cNvSpPr/>
                <p:nvPr/>
              </p:nvSpPr>
              <p:spPr>
                <a:xfrm>
                  <a:off x="6096000" y="2983959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J3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B576DF2-D657-30E6-9E84-8E4E52D5F27D}"/>
                    </a:ext>
                  </a:extLst>
                </p:cNvPr>
                <p:cNvSpPr/>
                <p:nvPr/>
              </p:nvSpPr>
              <p:spPr>
                <a:xfrm>
                  <a:off x="8598933" y="2521135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A3E0F65-8FE9-05DF-8CD0-2B78639DA45F}"/>
                    </a:ext>
                  </a:extLst>
                </p:cNvPr>
                <p:cNvSpPr/>
                <p:nvPr/>
              </p:nvSpPr>
              <p:spPr>
                <a:xfrm>
                  <a:off x="7348197" y="3454372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2FA72F0-34F0-9BAD-EE78-7409C35E90FD}"/>
                    </a:ext>
                  </a:extLst>
                </p:cNvPr>
                <p:cNvSpPr/>
                <p:nvPr/>
              </p:nvSpPr>
              <p:spPr>
                <a:xfrm>
                  <a:off x="6096000" y="3446352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J2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B726313-18D6-5F78-7350-CF17EB57B2D6}"/>
                    </a:ext>
                  </a:extLst>
                </p:cNvPr>
                <p:cNvSpPr/>
                <p:nvPr/>
              </p:nvSpPr>
              <p:spPr>
                <a:xfrm>
                  <a:off x="8598933" y="3454371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C729511-75D3-931D-C828-1CB9AA036C71}"/>
                  </a:ext>
                </a:extLst>
              </p:cNvPr>
              <p:cNvSpPr/>
              <p:nvPr/>
            </p:nvSpPr>
            <p:spPr>
              <a:xfrm>
                <a:off x="6096000" y="2493645"/>
                <a:ext cx="3731261" cy="444585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1D08668-E87D-37C6-6544-1F27B3B7EFD1}"/>
              </a:ext>
            </a:extLst>
          </p:cNvPr>
          <p:cNvGrpSpPr/>
          <p:nvPr/>
        </p:nvGrpSpPr>
        <p:grpSpPr>
          <a:xfrm>
            <a:off x="1226869" y="2596786"/>
            <a:ext cx="5657802" cy="1489055"/>
            <a:chOff x="1237029" y="2994041"/>
            <a:chExt cx="5657802" cy="1489055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E809243-4CFC-DCCD-31C4-9D2F212B2355}"/>
                </a:ext>
              </a:extLst>
            </p:cNvPr>
            <p:cNvGrpSpPr/>
            <p:nvPr/>
          </p:nvGrpSpPr>
          <p:grpSpPr>
            <a:xfrm>
              <a:off x="1237029" y="2994041"/>
              <a:ext cx="2533247" cy="1489055"/>
              <a:chOff x="1237029" y="2994041"/>
              <a:chExt cx="2533247" cy="1489055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A94AA10-4922-0116-61E4-A815B1EE0732}"/>
                  </a:ext>
                </a:extLst>
              </p:cNvPr>
              <p:cNvGrpSpPr/>
              <p:nvPr/>
            </p:nvGrpSpPr>
            <p:grpSpPr>
              <a:xfrm>
                <a:off x="1237029" y="2994041"/>
                <a:ext cx="2533247" cy="1489055"/>
                <a:chOff x="8624416" y="4013863"/>
                <a:chExt cx="2533247" cy="1489055"/>
              </a:xfrm>
            </p:grpSpPr>
            <p:sp>
              <p:nvSpPr>
                <p:cNvPr id="35" name="Flowchart: Connector 34">
                  <a:extLst>
                    <a:ext uri="{FF2B5EF4-FFF2-40B4-BE49-F238E27FC236}">
                      <a16:creationId xmlns:a16="http://schemas.microsoft.com/office/drawing/2014/main" id="{BDB0A0C2-EF32-C012-59B0-A6F453665780}"/>
                    </a:ext>
                  </a:extLst>
                </p:cNvPr>
                <p:cNvSpPr/>
                <p:nvPr/>
              </p:nvSpPr>
              <p:spPr>
                <a:xfrm>
                  <a:off x="9618981" y="4013863"/>
                  <a:ext cx="599440" cy="599440"/>
                </a:xfrm>
                <a:prstGeom prst="flowChartConnector">
                  <a:avLst/>
                </a:prstGeom>
                <a:solidFill>
                  <a:srgbClr val="FFC000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LID4096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Flowchart: Connector 36">
                  <a:extLst>
                    <a:ext uri="{FF2B5EF4-FFF2-40B4-BE49-F238E27FC236}">
                      <a16:creationId xmlns:a16="http://schemas.microsoft.com/office/drawing/2014/main" id="{BF5EF8D8-083C-0C48-B6BC-A9DFEDF24600}"/>
                    </a:ext>
                  </a:extLst>
                </p:cNvPr>
                <p:cNvSpPr/>
                <p:nvPr/>
              </p:nvSpPr>
              <p:spPr>
                <a:xfrm>
                  <a:off x="8624416" y="4903478"/>
                  <a:ext cx="599440" cy="599440"/>
                </a:xfrm>
                <a:prstGeom prst="flowChartConnector">
                  <a:avLst/>
                </a:prstGeom>
                <a:noFill/>
                <a:ln w="28575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Flowchart: Connector 38">
                  <a:extLst>
                    <a:ext uri="{FF2B5EF4-FFF2-40B4-BE49-F238E27FC236}">
                      <a16:creationId xmlns:a16="http://schemas.microsoft.com/office/drawing/2014/main" id="{9C0BD04B-19ED-E64E-F36B-88B70FC2C82F}"/>
                    </a:ext>
                  </a:extLst>
                </p:cNvPr>
                <p:cNvSpPr/>
                <p:nvPr/>
              </p:nvSpPr>
              <p:spPr>
                <a:xfrm>
                  <a:off x="10558223" y="4903478"/>
                  <a:ext cx="599440" cy="599440"/>
                </a:xfrm>
                <a:prstGeom prst="flowChartConnector">
                  <a:avLst/>
                </a:prstGeom>
                <a:noFill/>
                <a:ln w="28575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0CB61AB-3DBA-0C7F-6849-A3E717B064C5}"/>
                    </a:ext>
                  </a:extLst>
                </p:cNvPr>
                <p:cNvCxnSpPr>
                  <a:cxnSpLocks/>
                  <a:stCxn id="35" idx="3"/>
                  <a:endCxn id="37" idx="7"/>
                </p:cNvCxnSpPr>
                <p:nvPr/>
              </p:nvCxnSpPr>
              <p:spPr>
                <a:xfrm flipH="1">
                  <a:off x="9136070" y="4525517"/>
                  <a:ext cx="570697" cy="465747"/>
                </a:xfrm>
                <a:prstGeom prst="line">
                  <a:avLst/>
                </a:prstGeom>
                <a:ln w="3175">
                  <a:solidFill>
                    <a:srgbClr val="EAEAE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6955435-B739-6BB4-52F4-A595DA90E341}"/>
                    </a:ext>
                  </a:extLst>
                </p:cNvPr>
                <p:cNvCxnSpPr>
                  <a:cxnSpLocks/>
                  <a:stCxn id="39" idx="1"/>
                  <a:endCxn id="35" idx="5"/>
                </p:cNvCxnSpPr>
                <p:nvPr/>
              </p:nvCxnSpPr>
              <p:spPr>
                <a:xfrm flipH="1" flipV="1">
                  <a:off x="10130635" y="4525517"/>
                  <a:ext cx="515374" cy="465747"/>
                </a:xfrm>
                <a:prstGeom prst="line">
                  <a:avLst/>
                </a:prstGeom>
                <a:ln w="3175">
                  <a:solidFill>
                    <a:srgbClr val="EAEAE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5" name="Graphic 64" descr="Close with solid fill">
                <a:extLst>
                  <a:ext uri="{FF2B5EF4-FFF2-40B4-BE49-F238E27FC236}">
                    <a16:creationId xmlns:a16="http://schemas.microsoft.com/office/drawing/2014/main" id="{2B59CCB8-2D7C-90D2-0995-74F9720D8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876452" y="3018252"/>
                <a:ext cx="410748" cy="410748"/>
              </a:xfrm>
              <a:prstGeom prst="rect">
                <a:avLst/>
              </a:prstGeom>
            </p:spPr>
          </p:pic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D326E90-5B88-CF1A-BD6D-47D53944DD2F}"/>
                </a:ext>
              </a:extLst>
            </p:cNvPr>
            <p:cNvGrpSpPr/>
            <p:nvPr/>
          </p:nvGrpSpPr>
          <p:grpSpPr>
            <a:xfrm>
              <a:off x="4361584" y="2994041"/>
              <a:ext cx="2533247" cy="1489055"/>
              <a:chOff x="4361584" y="2994041"/>
              <a:chExt cx="2533247" cy="1489055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AEE5B748-A9A7-AB67-F8E5-B50BA5F2FF5B}"/>
                  </a:ext>
                </a:extLst>
              </p:cNvPr>
              <p:cNvGrpSpPr/>
              <p:nvPr/>
            </p:nvGrpSpPr>
            <p:grpSpPr>
              <a:xfrm>
                <a:off x="4361584" y="2994041"/>
                <a:ext cx="2533247" cy="1489055"/>
                <a:chOff x="8624416" y="4013863"/>
                <a:chExt cx="2533247" cy="1489055"/>
              </a:xfrm>
            </p:grpSpPr>
            <p:sp>
              <p:nvSpPr>
                <p:cNvPr id="59" name="Flowchart: Connector 58">
                  <a:extLst>
                    <a:ext uri="{FF2B5EF4-FFF2-40B4-BE49-F238E27FC236}">
                      <a16:creationId xmlns:a16="http://schemas.microsoft.com/office/drawing/2014/main" id="{35083545-5709-EAEB-158A-735D1217DD80}"/>
                    </a:ext>
                  </a:extLst>
                </p:cNvPr>
                <p:cNvSpPr/>
                <p:nvPr/>
              </p:nvSpPr>
              <p:spPr>
                <a:xfrm>
                  <a:off x="9618981" y="4013863"/>
                  <a:ext cx="599440" cy="599440"/>
                </a:xfrm>
                <a:prstGeom prst="flowChartConnector">
                  <a:avLst/>
                </a:prstGeom>
                <a:solidFill>
                  <a:srgbClr val="FFC000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27</a:t>
                  </a:r>
                  <a:endParaRPr lang="LID4096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Flowchart: Connector 59">
                  <a:extLst>
                    <a:ext uri="{FF2B5EF4-FFF2-40B4-BE49-F238E27FC236}">
                      <a16:creationId xmlns:a16="http://schemas.microsoft.com/office/drawing/2014/main" id="{D72534E3-47AA-EA79-62CC-A193340F41D8}"/>
                    </a:ext>
                  </a:extLst>
                </p:cNvPr>
                <p:cNvSpPr/>
                <p:nvPr/>
              </p:nvSpPr>
              <p:spPr>
                <a:xfrm>
                  <a:off x="8624416" y="4903478"/>
                  <a:ext cx="599440" cy="599440"/>
                </a:xfrm>
                <a:prstGeom prst="flowChartConnector">
                  <a:avLst/>
                </a:prstGeom>
                <a:noFill/>
                <a:ln w="28575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Flowchart: Connector 60">
                  <a:extLst>
                    <a:ext uri="{FF2B5EF4-FFF2-40B4-BE49-F238E27FC236}">
                      <a16:creationId xmlns:a16="http://schemas.microsoft.com/office/drawing/2014/main" id="{6516F293-1B25-4C65-EBC9-13C5D3A826F4}"/>
                    </a:ext>
                  </a:extLst>
                </p:cNvPr>
                <p:cNvSpPr/>
                <p:nvPr/>
              </p:nvSpPr>
              <p:spPr>
                <a:xfrm>
                  <a:off x="10558223" y="4903478"/>
                  <a:ext cx="599440" cy="599440"/>
                </a:xfrm>
                <a:prstGeom prst="flowChartConnector">
                  <a:avLst/>
                </a:prstGeom>
                <a:noFill/>
                <a:ln w="28575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7C4C2022-D044-E41F-A187-1CF6FB1F53FE}"/>
                    </a:ext>
                  </a:extLst>
                </p:cNvPr>
                <p:cNvCxnSpPr>
                  <a:cxnSpLocks/>
                  <a:stCxn id="59" idx="3"/>
                  <a:endCxn id="60" idx="7"/>
                </p:cNvCxnSpPr>
                <p:nvPr/>
              </p:nvCxnSpPr>
              <p:spPr>
                <a:xfrm flipH="1">
                  <a:off x="9136070" y="4525517"/>
                  <a:ext cx="570697" cy="465747"/>
                </a:xfrm>
                <a:prstGeom prst="line">
                  <a:avLst/>
                </a:prstGeom>
                <a:ln w="3175">
                  <a:solidFill>
                    <a:srgbClr val="EAEAE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69F503EC-6EEF-3525-8494-3D05886C0628}"/>
                    </a:ext>
                  </a:extLst>
                </p:cNvPr>
                <p:cNvCxnSpPr>
                  <a:cxnSpLocks/>
                  <a:stCxn id="61" idx="1"/>
                  <a:endCxn id="59" idx="5"/>
                </p:cNvCxnSpPr>
                <p:nvPr/>
              </p:nvCxnSpPr>
              <p:spPr>
                <a:xfrm flipH="1" flipV="1">
                  <a:off x="10130635" y="4525517"/>
                  <a:ext cx="515374" cy="465747"/>
                </a:xfrm>
                <a:prstGeom prst="line">
                  <a:avLst/>
                </a:prstGeom>
                <a:ln w="3175">
                  <a:solidFill>
                    <a:srgbClr val="EAEAE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7" name="Graphic 66" descr="Checkmark with solid fill">
                <a:extLst>
                  <a:ext uri="{FF2B5EF4-FFF2-40B4-BE49-F238E27FC236}">
                    <a16:creationId xmlns:a16="http://schemas.microsoft.com/office/drawing/2014/main" id="{558812E3-4014-759E-BC45-706C915BD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003167" y="3017886"/>
                <a:ext cx="411480" cy="411480"/>
              </a:xfrm>
              <a:prstGeom prst="rect">
                <a:avLst/>
              </a:prstGeom>
            </p:spPr>
          </p:pic>
        </p:grp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15E2545-B21E-657D-33AA-8F0E40A6E4DD}"/>
                </a:ext>
              </a:extLst>
            </p:cNvPr>
            <p:cNvCxnSpPr>
              <a:cxnSpLocks/>
            </p:cNvCxnSpPr>
            <p:nvPr/>
          </p:nvCxnSpPr>
          <p:spPr>
            <a:xfrm>
              <a:off x="3876367" y="3476703"/>
              <a:ext cx="704103" cy="0"/>
            </a:xfrm>
            <a:prstGeom prst="straightConnector1">
              <a:avLst/>
            </a:prstGeom>
            <a:ln w="76200">
              <a:solidFill>
                <a:srgbClr val="14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3D83CDE-DF1E-C754-9938-26136B91DBD8}"/>
              </a:ext>
            </a:extLst>
          </p:cNvPr>
          <p:cNvGrpSpPr/>
          <p:nvPr/>
        </p:nvGrpSpPr>
        <p:grpSpPr>
          <a:xfrm>
            <a:off x="7622539" y="4389005"/>
            <a:ext cx="3731261" cy="1818079"/>
            <a:chOff x="7622539" y="2129039"/>
            <a:chExt cx="3731261" cy="181807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7CBBCEB-0E14-09A8-FE43-ACC36FBCB254}"/>
                </a:ext>
              </a:extLst>
            </p:cNvPr>
            <p:cNvSpPr/>
            <p:nvPr/>
          </p:nvSpPr>
          <p:spPr>
            <a:xfrm>
              <a:off x="8874736" y="3059609"/>
              <a:ext cx="1203158" cy="417095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LID4096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092D189-62EE-60F5-2569-3482C5F7C669}"/>
                </a:ext>
              </a:extLst>
            </p:cNvPr>
            <p:cNvGrpSpPr/>
            <p:nvPr/>
          </p:nvGrpSpPr>
          <p:grpSpPr>
            <a:xfrm>
              <a:off x="7622539" y="2129039"/>
              <a:ext cx="3731261" cy="1818079"/>
              <a:chOff x="6096000" y="2053388"/>
              <a:chExt cx="3731261" cy="1818079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12FBE83-16A7-EF27-DF1E-6A0062639CC7}"/>
                  </a:ext>
                </a:extLst>
              </p:cNvPr>
              <p:cNvGrpSpPr/>
              <p:nvPr/>
            </p:nvGrpSpPr>
            <p:grpSpPr>
              <a:xfrm>
                <a:off x="6096000" y="2053388"/>
                <a:ext cx="3707552" cy="1818079"/>
                <a:chOff x="6096000" y="2053388"/>
                <a:chExt cx="3707552" cy="1818079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E345A84E-694C-0F39-7714-9D50E0836733}"/>
                    </a:ext>
                  </a:extLst>
                </p:cNvPr>
                <p:cNvSpPr/>
                <p:nvPr/>
              </p:nvSpPr>
              <p:spPr>
                <a:xfrm>
                  <a:off x="6096000" y="2053389"/>
                  <a:ext cx="1203158" cy="41709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Job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6C069761-6D90-FFBB-BC88-8E898BC3B75C}"/>
                    </a:ext>
                  </a:extLst>
                </p:cNvPr>
                <p:cNvSpPr/>
                <p:nvPr/>
              </p:nvSpPr>
              <p:spPr>
                <a:xfrm>
                  <a:off x="6096000" y="2513545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J1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EF5E051-32A3-F989-8D1B-D9C7A6FF5BC7}"/>
                    </a:ext>
                  </a:extLst>
                </p:cNvPr>
                <p:cNvSpPr/>
                <p:nvPr/>
              </p:nvSpPr>
              <p:spPr>
                <a:xfrm>
                  <a:off x="7348197" y="2513544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154B3C0-8F57-A147-9F17-CEF4E6FB5AC6}"/>
                    </a:ext>
                  </a:extLst>
                </p:cNvPr>
                <p:cNvSpPr/>
                <p:nvPr/>
              </p:nvSpPr>
              <p:spPr>
                <a:xfrm>
                  <a:off x="8600394" y="2053388"/>
                  <a:ext cx="1203158" cy="41709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Profit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CD884CD9-57EA-9A1B-C82A-5DEA2C834582}"/>
                    </a:ext>
                  </a:extLst>
                </p:cNvPr>
                <p:cNvSpPr/>
                <p:nvPr/>
              </p:nvSpPr>
              <p:spPr>
                <a:xfrm>
                  <a:off x="7348197" y="2060786"/>
                  <a:ext cx="1203158" cy="41709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Deadline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68D391A-CB71-274C-B1FA-8A95D1C8FB30}"/>
                    </a:ext>
                  </a:extLst>
                </p:cNvPr>
                <p:cNvSpPr/>
                <p:nvPr/>
              </p:nvSpPr>
              <p:spPr>
                <a:xfrm>
                  <a:off x="8598933" y="2983957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27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543A82C-5ECE-FDED-FFCE-8841E06B0988}"/>
                    </a:ext>
                  </a:extLst>
                </p:cNvPr>
                <p:cNvSpPr/>
                <p:nvPr/>
              </p:nvSpPr>
              <p:spPr>
                <a:xfrm>
                  <a:off x="6096000" y="2983959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J3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D4BDD68D-48AD-7BD9-4DE2-66BA3B5CEA38}"/>
                    </a:ext>
                  </a:extLst>
                </p:cNvPr>
                <p:cNvSpPr/>
                <p:nvPr/>
              </p:nvSpPr>
              <p:spPr>
                <a:xfrm>
                  <a:off x="8598933" y="2521135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0D63A41-A490-FDE8-011B-A15B96900CF6}"/>
                    </a:ext>
                  </a:extLst>
                </p:cNvPr>
                <p:cNvSpPr/>
                <p:nvPr/>
              </p:nvSpPr>
              <p:spPr>
                <a:xfrm>
                  <a:off x="7348197" y="3454372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3BE24E7A-088F-D5AB-7531-97C7BD3F0B77}"/>
                    </a:ext>
                  </a:extLst>
                </p:cNvPr>
                <p:cNvSpPr/>
                <p:nvPr/>
              </p:nvSpPr>
              <p:spPr>
                <a:xfrm>
                  <a:off x="6096000" y="3446352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J2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9EA8EAD9-B09C-4824-8BAC-11A365B43985}"/>
                    </a:ext>
                  </a:extLst>
                </p:cNvPr>
                <p:cNvSpPr/>
                <p:nvPr/>
              </p:nvSpPr>
              <p:spPr>
                <a:xfrm>
                  <a:off x="8598933" y="3454371"/>
                  <a:ext cx="1203158" cy="417095"/>
                </a:xfrm>
                <a:prstGeom prst="rect">
                  <a:avLst/>
                </a:prstGeom>
                <a:noFill/>
                <a:ln w="31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97AEE47-2D1D-5963-14C6-E0658AADC13E}"/>
                  </a:ext>
                </a:extLst>
              </p:cNvPr>
              <p:cNvSpPr/>
              <p:nvPr/>
            </p:nvSpPr>
            <p:spPr>
              <a:xfrm>
                <a:off x="6096000" y="2969658"/>
                <a:ext cx="3731261" cy="444585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BB45A33-80FC-DF42-26C5-C1094B2C9F21}"/>
              </a:ext>
            </a:extLst>
          </p:cNvPr>
          <p:cNvCxnSpPr>
            <a:cxnSpLocks/>
          </p:cNvCxnSpPr>
          <p:nvPr/>
        </p:nvCxnSpPr>
        <p:spPr>
          <a:xfrm rot="5400000">
            <a:off x="9136117" y="3940349"/>
            <a:ext cx="704103" cy="0"/>
          </a:xfrm>
          <a:prstGeom prst="straightConnector1">
            <a:avLst/>
          </a:prstGeom>
          <a:ln w="76200">
            <a:solidFill>
              <a:srgbClr val="14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76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370A-29AE-A991-1E56-824C2443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Sort by Deadline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D02-67C5-2163-5A65-FE850EDA9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09174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sorts jobs in ascending order by deadline.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means jobs with earlier deadline are considered first.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important because: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Earlier-deadline jobs have fewer possible slots, so we must handle them earlier.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DF1C49-2D4C-D020-5C83-07C2E94D9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103440"/>
              </p:ext>
            </p:extLst>
          </p:nvPr>
        </p:nvGraphicFramePr>
        <p:xfrm>
          <a:off x="931716" y="3657867"/>
          <a:ext cx="8669727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9909">
                  <a:extLst>
                    <a:ext uri="{9D8B030D-6E8A-4147-A177-3AD203B41FA5}">
                      <a16:colId xmlns:a16="http://schemas.microsoft.com/office/drawing/2014/main" val="3813030799"/>
                    </a:ext>
                  </a:extLst>
                </a:gridCol>
                <a:gridCol w="2889909">
                  <a:extLst>
                    <a:ext uri="{9D8B030D-6E8A-4147-A177-3AD203B41FA5}">
                      <a16:colId xmlns:a16="http://schemas.microsoft.com/office/drawing/2014/main" val="2546147870"/>
                    </a:ext>
                  </a:extLst>
                </a:gridCol>
                <a:gridCol w="2889909">
                  <a:extLst>
                    <a:ext uri="{9D8B030D-6E8A-4147-A177-3AD203B41FA5}">
                      <a16:colId xmlns:a16="http://schemas.microsoft.com/office/drawing/2014/main" val="3823906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778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45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7624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19CE69-ECD2-F693-1DBE-D9CDB61E3724}"/>
              </a:ext>
            </a:extLst>
          </p:cNvPr>
          <p:cNvSpPr txBox="1"/>
          <p:nvPr/>
        </p:nvSpPr>
        <p:spPr>
          <a:xfrm>
            <a:off x="838199" y="5396920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A </a:t>
            </a:r>
            <a:r>
              <a:rPr lang="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be done very early, so we consider it before jobs with later deadlines.</a:t>
            </a:r>
          </a:p>
        </p:txBody>
      </p:sp>
    </p:spTree>
    <p:extLst>
      <p:ext uri="{BB962C8B-B14F-4D97-AF65-F5344CB8AC3E}">
        <p14:creationId xmlns:p14="http://schemas.microsoft.com/office/powerpoint/2010/main" val="13117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5E4C-818E-3E7B-B1F3-1692EEF0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880"/>
            <a:ext cx="10515600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Specification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E124-A891-89D3-7560-4ED31263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6"/>
            <a:ext cx="10515600" cy="4485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0428A-486E-96CA-6025-EF65D3893AAD}"/>
              </a:ext>
            </a:extLst>
          </p:cNvPr>
          <p:cNvSpPr/>
          <p:nvPr/>
        </p:nvSpPr>
        <p:spPr>
          <a:xfrm>
            <a:off x="838200" y="1272971"/>
            <a:ext cx="10515600" cy="533581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#1: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 of jobs using deadline and profit.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#2: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jobs by deadline in ascending order.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#3: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empty min-heap.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#4: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job:     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a. If there is still space before its deadline:          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- Insert its profit into the heap.     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 Otherwise, if this job has more profit than the smallest selected job:          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- Remove the smallest profit.          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- Insert the current job's profit.</a:t>
            </a: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#5: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all profits in the heap.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#6: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job count and total profit.</a:t>
            </a:r>
            <a:endParaRPr lang="LID4096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36773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B91E-F356-795A-B11C-FAC6FEA2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C939-AEA4-0C04-CA8F-94CE228A4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098"/>
            <a:ext cx="6455229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Notation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CD443-D4C9-97EF-BB9B-FCEDCF408B85}"/>
              </a:ext>
            </a:extLst>
          </p:cNvPr>
          <p:cNvSpPr txBox="1"/>
          <p:nvPr/>
        </p:nvSpPr>
        <p:spPr>
          <a:xfrm>
            <a:off x="838200" y="904896"/>
            <a:ext cx="10515600" cy="563231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← length(deadline)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Get the total number of jobs.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jobCount ← 0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Start with zero scheduled jobs.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← 0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Start with zero total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← empty list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Create an empty list to store each job with its deadline and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 ← 0 to n - 1 do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Loop through all jobs.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jobs.add((deadline[i], profit[i]))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Store each job as a pair: deadline and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jobs in ascending order by deadline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Sort jobs from earliest deadline to latest deadline.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 ← empty min-heap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Create an empty min-heap to store selected job profits.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job in jobs do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Check each job one by one after sorting by deadline.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job.deadline &gt; size(pq) then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If the deadline allows more jobs than we have currently selected, there is still space.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	pq.insert(job.profit)	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Add this job’s profit into the min-heap.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else if pq is not empty and pq.minimum() &lt; job.profit then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If there is no space, compare the smallest selected profit with the current job’s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pq.removeMinimum()	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Remove the selected job with the smallest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pq.insert(job.profit)	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Insert the current job because it gives more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 if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pq is not empty do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Now add all selected job profits from the heap.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totalProfit ← totalProfit + pq.minimum()	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Add the smallest remaining profit in the heap to total profit.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pq.removeMinimum()	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Remove that profit from the heap.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jobCount ← jobCount + 1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Increase the number of scheduled jobs by one.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jobCount, totalProfit </a:t>
            </a:r>
            <a:r>
              <a:rPr lang="en-US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Return the total number of scheduled jobs and the total profit earned.</a:t>
            </a:r>
          </a:p>
        </p:txBody>
      </p:sp>
    </p:spTree>
    <p:extLst>
      <p:ext uri="{BB962C8B-B14F-4D97-AF65-F5344CB8AC3E}">
        <p14:creationId xmlns:p14="http://schemas.microsoft.com/office/powerpoint/2010/main" val="78682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9EEB-3829-8A1D-C47E-5D33143E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6ABB-6806-D815-8268-E8BF8A93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847413"/>
            <a:ext cx="3581400" cy="2460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Jobs</a:t>
            </a:r>
            <a:endParaRPr lang="LID4096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2D7BA7-8693-2954-C7D9-F66347D5F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387145"/>
              </p:ext>
            </p:extLst>
          </p:nvPr>
        </p:nvGraphicFramePr>
        <p:xfrm>
          <a:off x="876301" y="1168251"/>
          <a:ext cx="3495675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65225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605E57-4F90-EA54-09B5-1AAD204142B2}"/>
              </a:ext>
            </a:extLst>
          </p:cNvPr>
          <p:cNvSpPr txBox="1">
            <a:spLocks/>
          </p:cNvSpPr>
          <p:nvPr/>
        </p:nvSpPr>
        <p:spPr>
          <a:xfrm>
            <a:off x="5781092" y="847413"/>
            <a:ext cx="4635211" cy="246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#1: Sort by Deadline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B5B02C-DB37-9E0E-8A61-0BC119B24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731198"/>
              </p:ext>
            </p:extLst>
          </p:nvPr>
        </p:nvGraphicFramePr>
        <p:xfrm>
          <a:off x="5886447" y="1176409"/>
          <a:ext cx="452985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246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13246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13246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13246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FAD87E-34F2-9F01-808B-FDE6D42EBFFA}"/>
              </a:ext>
            </a:extLst>
          </p:cNvPr>
          <p:cNvSpPr txBox="1">
            <a:spLocks/>
          </p:cNvSpPr>
          <p:nvPr/>
        </p:nvSpPr>
        <p:spPr>
          <a:xfrm>
            <a:off x="876301" y="3671910"/>
            <a:ext cx="2563210" cy="2836841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#2: Use the Min-Heap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heap:</a:t>
            </a: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LID4096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size(pq) =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092E8F-C547-C47A-BBE1-2EB4996EF975}"/>
              </a:ext>
            </a:extLst>
          </p:cNvPr>
          <p:cNvGrpSpPr/>
          <p:nvPr/>
        </p:nvGrpSpPr>
        <p:grpSpPr>
          <a:xfrm>
            <a:off x="4303206" y="3671911"/>
            <a:ext cx="2715100" cy="2836838"/>
            <a:chOff x="4927528" y="3671911"/>
            <a:chExt cx="2943222" cy="2958335"/>
          </a:xfrm>
        </p:grpSpPr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3C7278B4-5CBB-6111-89F4-95730738ABB9}"/>
                </a:ext>
              </a:extLst>
            </p:cNvPr>
            <p:cNvSpPr txBox="1">
              <a:spLocks/>
            </p:cNvSpPr>
            <p:nvPr/>
          </p:nvSpPr>
          <p:spPr>
            <a:xfrm>
              <a:off x="4927528" y="3671911"/>
              <a:ext cx="2943222" cy="2958335"/>
            </a:xfrm>
            <a:prstGeom prst="rect">
              <a:avLst/>
            </a:prstGeom>
            <a:ln w="381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 J2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J2 has: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heap size: size(pq) = 0	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B082415-2350-9025-07DB-B4042164B939}"/>
                </a:ext>
              </a:extLst>
            </p:cNvPr>
            <p:cNvGrpSpPr/>
            <p:nvPr/>
          </p:nvGrpSpPr>
          <p:grpSpPr>
            <a:xfrm>
              <a:off x="5634699" y="4486817"/>
              <a:ext cx="1941987" cy="666069"/>
              <a:chOff x="6677440" y="1880866"/>
              <a:chExt cx="1941987" cy="66606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4CCBC80-0FBE-613F-A1D7-23D8EDA875FB}"/>
                  </a:ext>
                </a:extLst>
              </p:cNvPr>
              <p:cNvSpPr/>
              <p:nvPr/>
            </p:nvSpPr>
            <p:spPr>
              <a:xfrm>
                <a:off x="6677440" y="1880866"/>
                <a:ext cx="76200" cy="66402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29827B2-60F3-10A7-4FFE-653B4C798E06}"/>
                  </a:ext>
                </a:extLst>
              </p:cNvPr>
              <p:cNvSpPr/>
              <p:nvPr/>
            </p:nvSpPr>
            <p:spPr>
              <a:xfrm>
                <a:off x="6753640" y="1882907"/>
                <a:ext cx="1865787" cy="6640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deadline = 1</a:t>
                </a:r>
              </a:p>
              <a:p>
                <a:pPr algn="ctr"/>
                <a:r>
                  <a:rPr lang="en-US" sz="1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profit = 19</a:t>
                </a:r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FC09500-07CC-A086-4819-306F20B5D8C9}"/>
              </a:ext>
            </a:extLst>
          </p:cNvPr>
          <p:cNvSpPr/>
          <p:nvPr/>
        </p:nvSpPr>
        <p:spPr>
          <a:xfrm>
            <a:off x="5886447" y="1534884"/>
            <a:ext cx="4529856" cy="32366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444946-84BA-12A1-CBD7-3282B380BDA2}"/>
              </a:ext>
            </a:extLst>
          </p:cNvPr>
          <p:cNvGrpSpPr/>
          <p:nvPr/>
        </p:nvGrpSpPr>
        <p:grpSpPr>
          <a:xfrm>
            <a:off x="1251779" y="4486817"/>
            <a:ext cx="1204883" cy="1010683"/>
            <a:chOff x="1039091" y="4717780"/>
            <a:chExt cx="1475202" cy="1237433"/>
          </a:xfrm>
        </p:grpSpPr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8A1108B-3F5E-95B7-01A2-445806321E26}"/>
                </a:ext>
              </a:extLst>
            </p:cNvPr>
            <p:cNvSpPr/>
            <p:nvPr/>
          </p:nvSpPr>
          <p:spPr>
            <a:xfrm>
              <a:off x="1288473" y="4717780"/>
              <a:ext cx="976438" cy="976438"/>
            </a:xfrm>
            <a:prstGeom prst="flowChartConnector">
              <a:avLst/>
            </a:prstGeom>
            <a:noFill/>
            <a:ln>
              <a:solidFill>
                <a:srgbClr val="EAEA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05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02B7A8B-851F-972D-FE31-F9F43B46526E}"/>
                </a:ext>
              </a:extLst>
            </p:cNvPr>
            <p:cNvCxnSpPr>
              <a:stCxn id="11" idx="3"/>
            </p:cNvCxnSpPr>
            <p:nvPr/>
          </p:nvCxnSpPr>
          <p:spPr>
            <a:xfrm flipH="1">
              <a:off x="1039091" y="5551222"/>
              <a:ext cx="392378" cy="402336"/>
            </a:xfrm>
            <a:prstGeom prst="line">
              <a:avLst/>
            </a:prstGeom>
            <a:ln>
              <a:solidFill>
                <a:srgbClr val="EAE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EA4613-9274-6054-74C6-701E74D14C70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2121915" y="5551222"/>
              <a:ext cx="392378" cy="403991"/>
            </a:xfrm>
            <a:prstGeom prst="line">
              <a:avLst/>
            </a:prstGeom>
            <a:ln>
              <a:solidFill>
                <a:srgbClr val="EAE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46749F7-EB43-1109-6366-F5C5895DED98}"/>
              </a:ext>
            </a:extLst>
          </p:cNvPr>
          <p:cNvGrpSpPr/>
          <p:nvPr/>
        </p:nvGrpSpPr>
        <p:grpSpPr>
          <a:xfrm>
            <a:off x="8178130" y="3631066"/>
            <a:ext cx="3137569" cy="2836838"/>
            <a:chOff x="8069821" y="3687590"/>
            <a:chExt cx="3137569" cy="2781116"/>
          </a:xfrm>
        </p:grpSpPr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A823EA0E-135E-AD16-947D-F2795A1147EE}"/>
                </a:ext>
              </a:extLst>
            </p:cNvPr>
            <p:cNvSpPr txBox="1">
              <a:spLocks/>
            </p:cNvSpPr>
            <p:nvPr/>
          </p:nvSpPr>
          <p:spPr>
            <a:xfrm>
              <a:off x="8069821" y="3687590"/>
              <a:ext cx="3137569" cy="2781116"/>
            </a:xfrm>
            <a:prstGeom prst="roundRect">
              <a:avLst>
                <a:gd name="adj" fmla="val 7103"/>
              </a:avLst>
            </a:prstGeom>
            <a:ln w="3810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Since: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deadline &gt; size(pq)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1 &gt; 0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 exists, so insert </a:t>
              </a:r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New heap size: size(pq) = 1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selected profit: 19	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462594-38D0-468F-C3D7-1E418B957A09}"/>
                </a:ext>
              </a:extLst>
            </p:cNvPr>
            <p:cNvGrpSpPr/>
            <p:nvPr/>
          </p:nvGrpSpPr>
          <p:grpSpPr>
            <a:xfrm>
              <a:off x="9976281" y="4684439"/>
              <a:ext cx="1227010" cy="975765"/>
              <a:chOff x="2544594" y="4488816"/>
              <a:chExt cx="1227010" cy="975765"/>
            </a:xfrm>
          </p:grpSpPr>
          <p:sp>
            <p:nvSpPr>
              <p:cNvPr id="21" name="Flowchart: Connector 20">
                <a:extLst>
                  <a:ext uri="{FF2B5EF4-FFF2-40B4-BE49-F238E27FC236}">
                    <a16:creationId xmlns:a16="http://schemas.microsoft.com/office/drawing/2014/main" id="{3BC40AE9-6FBD-B6C2-E024-6735BC41A59E}"/>
                  </a:ext>
                </a:extLst>
              </p:cNvPr>
              <p:cNvSpPr/>
              <p:nvPr/>
            </p:nvSpPr>
            <p:spPr>
              <a:xfrm>
                <a:off x="2827117" y="4488816"/>
                <a:ext cx="661964" cy="661964"/>
              </a:xfrm>
              <a:prstGeom prst="flowChartConnecto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</a:t>
                </a:r>
                <a:endParaRPr lang="LID4096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EBAB911-FAC7-E013-51CE-78D102DEBC0C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 flipH="1">
                <a:off x="2544594" y="5053837"/>
                <a:ext cx="379465" cy="346361"/>
              </a:xfrm>
              <a:prstGeom prst="line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1EEE75E-0274-315A-EF5E-E1698F53A2A9}"/>
                  </a:ext>
                </a:extLst>
              </p:cNvPr>
              <p:cNvCxnSpPr>
                <a:cxnSpLocks/>
                <a:stCxn id="21" idx="5"/>
              </p:cNvCxnSpPr>
              <p:nvPr/>
            </p:nvCxnSpPr>
            <p:spPr>
              <a:xfrm>
                <a:off x="3392139" y="5053834"/>
                <a:ext cx="379465" cy="410747"/>
              </a:xfrm>
              <a:prstGeom prst="line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221E50-3090-F417-3497-529237CF8BA1}"/>
              </a:ext>
            </a:extLst>
          </p:cNvPr>
          <p:cNvCxnSpPr>
            <a:cxnSpLocks/>
          </p:cNvCxnSpPr>
          <p:nvPr/>
        </p:nvCxnSpPr>
        <p:spPr>
          <a:xfrm>
            <a:off x="3527983" y="4921160"/>
            <a:ext cx="704103" cy="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982F49-754A-B229-6D3B-4AD6195CD9D4}"/>
              </a:ext>
            </a:extLst>
          </p:cNvPr>
          <p:cNvCxnSpPr>
            <a:cxnSpLocks/>
          </p:cNvCxnSpPr>
          <p:nvPr/>
        </p:nvCxnSpPr>
        <p:spPr>
          <a:xfrm>
            <a:off x="7241826" y="4985502"/>
            <a:ext cx="704103" cy="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08BBB3-985E-F998-97EE-87FA6E859F89}"/>
              </a:ext>
            </a:extLst>
          </p:cNvPr>
          <p:cNvCxnSpPr>
            <a:stCxn id="21" idx="3"/>
          </p:cNvCxnSpPr>
          <p:nvPr/>
        </p:nvCxnSpPr>
        <p:spPr>
          <a:xfrm flipH="1">
            <a:off x="10055816" y="5224229"/>
            <a:ext cx="408239" cy="354659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466FE2-60BF-639C-4466-B77ACA7D683A}"/>
              </a:ext>
            </a:extLst>
          </p:cNvPr>
          <p:cNvCxnSpPr>
            <a:stCxn id="21" idx="5"/>
          </p:cNvCxnSpPr>
          <p:nvPr/>
        </p:nvCxnSpPr>
        <p:spPr>
          <a:xfrm>
            <a:off x="10932135" y="5224229"/>
            <a:ext cx="379465" cy="353301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66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1B69D-E840-7FBD-43EE-A11773BDA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252E-B717-EFCC-15A9-CD15C798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B6D7D2F-C108-AAEB-A344-8618B06BA90F}"/>
              </a:ext>
            </a:extLst>
          </p:cNvPr>
          <p:cNvSpPr txBox="1">
            <a:spLocks/>
          </p:cNvSpPr>
          <p:nvPr/>
        </p:nvSpPr>
        <p:spPr>
          <a:xfrm>
            <a:off x="820883" y="1105852"/>
            <a:ext cx="3885937" cy="2978468"/>
          </a:xfrm>
          <a:prstGeom prst="roundRect">
            <a:avLst>
              <a:gd name="adj" fmla="val 8821"/>
            </a:avLst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#2: Use the Min-Heap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 has: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heap size: size(pq) = 1	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CF444F-9176-D2B1-1679-246BD04EA745}"/>
              </a:ext>
            </a:extLst>
          </p:cNvPr>
          <p:cNvGrpSpPr/>
          <p:nvPr/>
        </p:nvGrpSpPr>
        <p:grpSpPr>
          <a:xfrm>
            <a:off x="1531428" y="2504963"/>
            <a:ext cx="2509117" cy="780075"/>
            <a:chOff x="5952887" y="2554261"/>
            <a:chExt cx="1900414" cy="66606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36820E-4C78-DC97-BAEF-33AC615F651E}"/>
                </a:ext>
              </a:extLst>
            </p:cNvPr>
            <p:cNvSpPr/>
            <p:nvPr/>
          </p:nvSpPr>
          <p:spPr>
            <a:xfrm>
              <a:off x="5952887" y="2554261"/>
              <a:ext cx="34628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5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8809C6C-B7A3-32A7-A089-8C7404DB66E8}"/>
                </a:ext>
              </a:extLst>
            </p:cNvPr>
            <p:cNvSpPr/>
            <p:nvPr/>
          </p:nvSpPr>
          <p:spPr>
            <a:xfrm>
              <a:off x="5987514" y="2556302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25</a:t>
              </a:r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5A3EC20-C1CA-2AE2-5FBB-21F751010EB7}"/>
              </a:ext>
            </a:extLst>
          </p:cNvPr>
          <p:cNvSpPr txBox="1">
            <a:spLocks/>
          </p:cNvSpPr>
          <p:nvPr/>
        </p:nvSpPr>
        <p:spPr>
          <a:xfrm>
            <a:off x="5362479" y="1105852"/>
            <a:ext cx="6008636" cy="5188626"/>
          </a:xfrm>
          <a:prstGeom prst="roundRect">
            <a:avLst>
              <a:gd name="adj" fmla="val 5702"/>
            </a:avLst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&gt; size(pq)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&gt; 1 is false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extra space before deadline 1.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compare with the smallest profit in the heap.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pq.minimum() = 19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25 &gt; 19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remove 19 and insert 25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Meaning, we replaced the lower-profit job J2 with the higher-profit job J4.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D43773-8FEC-DB62-95F7-49068A8DD575}"/>
              </a:ext>
            </a:extLst>
          </p:cNvPr>
          <p:cNvGrpSpPr/>
          <p:nvPr/>
        </p:nvGrpSpPr>
        <p:grpSpPr>
          <a:xfrm>
            <a:off x="6096000" y="4383802"/>
            <a:ext cx="3611187" cy="1056267"/>
            <a:chOff x="7548731" y="3779878"/>
            <a:chExt cx="3611187" cy="105626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57735FD-0228-47EC-186B-805B46BF7C90}"/>
                </a:ext>
              </a:extLst>
            </p:cNvPr>
            <p:cNvGrpSpPr/>
            <p:nvPr/>
          </p:nvGrpSpPr>
          <p:grpSpPr>
            <a:xfrm>
              <a:off x="7548731" y="3826165"/>
              <a:ext cx="1355236" cy="1009980"/>
              <a:chOff x="7946351" y="3813414"/>
              <a:chExt cx="1355236" cy="10099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DF79075-DCC5-9A3F-7F82-92203713FB99}"/>
                  </a:ext>
                </a:extLst>
              </p:cNvPr>
              <p:cNvGrpSpPr/>
              <p:nvPr/>
            </p:nvGrpSpPr>
            <p:grpSpPr>
              <a:xfrm>
                <a:off x="7946351" y="3847625"/>
                <a:ext cx="1227010" cy="975769"/>
                <a:chOff x="1005950" y="4676360"/>
                <a:chExt cx="1227010" cy="975769"/>
              </a:xfrm>
            </p:grpSpPr>
            <p:sp>
              <p:nvSpPr>
                <p:cNvPr id="6" name="Flowchart: Connector 5">
                  <a:extLst>
                    <a:ext uri="{FF2B5EF4-FFF2-40B4-BE49-F238E27FC236}">
                      <a16:creationId xmlns:a16="http://schemas.microsoft.com/office/drawing/2014/main" id="{33699E8C-C7CB-4E3E-11EF-037811B34CB2}"/>
                    </a:ext>
                  </a:extLst>
                </p:cNvPr>
                <p:cNvSpPr/>
                <p:nvPr/>
              </p:nvSpPr>
              <p:spPr>
                <a:xfrm>
                  <a:off x="1288473" y="4676360"/>
                  <a:ext cx="661964" cy="661964"/>
                </a:xfrm>
                <a:prstGeom prst="flowChartConnector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19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4DD44928-CF40-D5BB-07B9-FE2F08F29F74}"/>
                    </a:ext>
                  </a:extLst>
                </p:cNvPr>
                <p:cNvCxnSpPr>
                  <a:cxnSpLocks/>
                  <a:stCxn id="6" idx="3"/>
                </p:cNvCxnSpPr>
                <p:nvPr/>
              </p:nvCxnSpPr>
              <p:spPr>
                <a:xfrm flipH="1">
                  <a:off x="1005950" y="5241382"/>
                  <a:ext cx="379465" cy="410747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BA057A11-31A3-B8B1-56FB-6F1B9AE89A73}"/>
                    </a:ext>
                  </a:extLst>
                </p:cNvPr>
                <p:cNvCxnSpPr>
                  <a:cxnSpLocks/>
                  <a:stCxn id="6" idx="5"/>
                </p:cNvCxnSpPr>
                <p:nvPr/>
              </p:nvCxnSpPr>
              <p:spPr>
                <a:xfrm>
                  <a:off x="1853495" y="5241382"/>
                  <a:ext cx="379465" cy="410747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" name="Graphic 18" descr="Close with solid fill">
                <a:extLst>
                  <a:ext uri="{FF2B5EF4-FFF2-40B4-BE49-F238E27FC236}">
                    <a16:creationId xmlns:a16="http://schemas.microsoft.com/office/drawing/2014/main" id="{B32FF521-DE96-922C-4769-92E374489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890839" y="3813414"/>
                <a:ext cx="410748" cy="410748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DA4D452-1BDA-C974-8E3A-88DC3A8D02C4}"/>
                </a:ext>
              </a:extLst>
            </p:cNvPr>
            <p:cNvGrpSpPr/>
            <p:nvPr/>
          </p:nvGrpSpPr>
          <p:grpSpPr>
            <a:xfrm>
              <a:off x="9803951" y="3779878"/>
              <a:ext cx="1355967" cy="1056267"/>
              <a:chOff x="9722846" y="3844264"/>
              <a:chExt cx="1355967" cy="1056267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7C79E79-B538-76B6-90DC-A75BFA3BC352}"/>
                  </a:ext>
                </a:extLst>
              </p:cNvPr>
              <p:cNvGrpSpPr/>
              <p:nvPr/>
            </p:nvGrpSpPr>
            <p:grpSpPr>
              <a:xfrm>
                <a:off x="9722846" y="3924762"/>
                <a:ext cx="1227010" cy="975769"/>
                <a:chOff x="1005950" y="4676360"/>
                <a:chExt cx="1227010" cy="975769"/>
              </a:xfrm>
            </p:grpSpPr>
            <p:sp>
              <p:nvSpPr>
                <p:cNvPr id="21" name="Flowchart: Connector 20">
                  <a:extLst>
                    <a:ext uri="{FF2B5EF4-FFF2-40B4-BE49-F238E27FC236}">
                      <a16:creationId xmlns:a16="http://schemas.microsoft.com/office/drawing/2014/main" id="{D1459683-8451-4A80-47FA-65D65389233E}"/>
                    </a:ext>
                  </a:extLst>
                </p:cNvPr>
                <p:cNvSpPr/>
                <p:nvPr/>
              </p:nvSpPr>
              <p:spPr>
                <a:xfrm>
                  <a:off x="1288473" y="4676360"/>
                  <a:ext cx="661964" cy="661964"/>
                </a:xfrm>
                <a:prstGeom prst="flowChartConnector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25</a:t>
                  </a:r>
                  <a:endParaRPr lang="LID4096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2384C51-1B78-DBE6-8B6C-8710C7009285}"/>
                    </a:ext>
                  </a:extLst>
                </p:cNvPr>
                <p:cNvCxnSpPr>
                  <a:cxnSpLocks/>
                  <a:stCxn id="21" idx="3"/>
                </p:cNvCxnSpPr>
                <p:nvPr/>
              </p:nvCxnSpPr>
              <p:spPr>
                <a:xfrm flipH="1">
                  <a:off x="1005950" y="5241382"/>
                  <a:ext cx="379465" cy="410747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6D502B4-5E80-FF7A-DEF1-560CDE147C45}"/>
                    </a:ext>
                  </a:extLst>
                </p:cNvPr>
                <p:cNvCxnSpPr>
                  <a:cxnSpLocks/>
                  <a:stCxn id="21" idx="5"/>
                </p:cNvCxnSpPr>
                <p:nvPr/>
              </p:nvCxnSpPr>
              <p:spPr>
                <a:xfrm>
                  <a:off x="1853495" y="5241382"/>
                  <a:ext cx="379465" cy="410747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4" name="Graphic 33" descr="Checkmark with solid fill">
                <a:extLst>
                  <a:ext uri="{FF2B5EF4-FFF2-40B4-BE49-F238E27FC236}">
                    <a16:creationId xmlns:a16="http://schemas.microsoft.com/office/drawing/2014/main" id="{5933C772-C7EF-1610-BD2E-42DFF572F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667333" y="3844264"/>
                <a:ext cx="411480" cy="411480"/>
              </a:xfrm>
              <a:prstGeom prst="rect">
                <a:avLst/>
              </a:prstGeom>
            </p:spPr>
          </p:pic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6334FA1-1F4D-EE69-9AFC-ABFC694D7F99}"/>
                </a:ext>
              </a:extLst>
            </p:cNvPr>
            <p:cNvCxnSpPr/>
            <p:nvPr/>
          </p:nvCxnSpPr>
          <p:spPr>
            <a:xfrm>
              <a:off x="9171494" y="4255744"/>
              <a:ext cx="421259" cy="0"/>
            </a:xfrm>
            <a:prstGeom prst="straightConnector1">
              <a:avLst/>
            </a:prstGeom>
            <a:ln w="76200">
              <a:solidFill>
                <a:srgbClr val="14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2DC7DED-B241-4AA3-A5D5-BFAC3FCCB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287765"/>
              </p:ext>
            </p:extLst>
          </p:nvPr>
        </p:nvGraphicFramePr>
        <p:xfrm>
          <a:off x="802430" y="4191358"/>
          <a:ext cx="3906720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76680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502739E7-97A3-D30B-C267-246D407726F7}"/>
              </a:ext>
            </a:extLst>
          </p:cNvPr>
          <p:cNvSpPr/>
          <p:nvPr/>
        </p:nvSpPr>
        <p:spPr>
          <a:xfrm>
            <a:off x="800099" y="4911936"/>
            <a:ext cx="3906721" cy="330982"/>
          </a:xfrm>
          <a:prstGeom prst="rect">
            <a:avLst/>
          </a:prstGeom>
          <a:noFill/>
          <a:ln w="38100">
            <a:solidFill>
              <a:srgbClr val="FFCC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7AED9341-703D-6769-C105-4CE1C2150896}"/>
              </a:ext>
            </a:extLst>
          </p:cNvPr>
          <p:cNvSpPr/>
          <p:nvPr/>
        </p:nvSpPr>
        <p:spPr>
          <a:xfrm>
            <a:off x="4148020" y="1105852"/>
            <a:ext cx="558800" cy="558800"/>
          </a:xfrm>
          <a:prstGeom prst="flowChartConnector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E9CF379D-4517-7532-CB32-8E2B640063B3}"/>
              </a:ext>
            </a:extLst>
          </p:cNvPr>
          <p:cNvSpPr/>
          <p:nvPr/>
        </p:nvSpPr>
        <p:spPr>
          <a:xfrm>
            <a:off x="10812315" y="1105852"/>
            <a:ext cx="558800" cy="558800"/>
          </a:xfrm>
          <a:prstGeom prst="flowChartConnector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931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7A46-B134-6A85-E7DF-D8E82D5F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3604-8453-E457-A615-99258516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B8B92B4-FB07-8999-9682-897BB80E1AE1}"/>
              </a:ext>
            </a:extLst>
          </p:cNvPr>
          <p:cNvSpPr txBox="1">
            <a:spLocks/>
          </p:cNvSpPr>
          <p:nvPr/>
        </p:nvSpPr>
        <p:spPr>
          <a:xfrm>
            <a:off x="820883" y="1105852"/>
            <a:ext cx="3885938" cy="2408103"/>
          </a:xfrm>
          <a:prstGeom prst="roundRect">
            <a:avLst>
              <a:gd name="adj" fmla="val 6963"/>
            </a:avLst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 has: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heap size: size(pq) = 1	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9321BE-FFF7-14C8-F989-9F1AAD081F48}"/>
              </a:ext>
            </a:extLst>
          </p:cNvPr>
          <p:cNvGrpSpPr/>
          <p:nvPr/>
        </p:nvGrpSpPr>
        <p:grpSpPr>
          <a:xfrm>
            <a:off x="1531621" y="1858055"/>
            <a:ext cx="1912533" cy="666069"/>
            <a:chOff x="6125454" y="2111829"/>
            <a:chExt cx="1912533" cy="66606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FD0B4ED-B438-F341-6218-DF1E08F160C2}"/>
                </a:ext>
              </a:extLst>
            </p:cNvPr>
            <p:cNvSpPr/>
            <p:nvPr/>
          </p:nvSpPr>
          <p:spPr>
            <a:xfrm>
              <a:off x="6125454" y="2111829"/>
              <a:ext cx="45719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D4A268-42B8-366D-2311-F6A04BD53D4D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100</a:t>
              </a:r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CC6A25B-3506-C382-86F8-67A7C64239C7}"/>
              </a:ext>
            </a:extLst>
          </p:cNvPr>
          <p:cNvSpPr txBox="1">
            <a:spLocks/>
          </p:cNvSpPr>
          <p:nvPr/>
        </p:nvSpPr>
        <p:spPr>
          <a:xfrm>
            <a:off x="4991673" y="1105852"/>
            <a:ext cx="6379442" cy="4646296"/>
          </a:xfrm>
          <a:prstGeom prst="roundRect">
            <a:avLst>
              <a:gd name="adj" fmla="val 5525"/>
            </a:avLst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&gt; size(pq)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&gt; 1 is true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space, so insert 100.	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6DBA21E-7A96-09B9-5429-A7D80622AA92}"/>
              </a:ext>
            </a:extLst>
          </p:cNvPr>
          <p:cNvSpPr/>
          <p:nvPr/>
        </p:nvSpPr>
        <p:spPr>
          <a:xfrm>
            <a:off x="7236907" y="2851991"/>
            <a:ext cx="661964" cy="66196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190B9B-F1A5-624F-79A5-642D9B8CCD22}"/>
              </a:ext>
            </a:extLst>
          </p:cNvPr>
          <p:cNvCxnSpPr>
            <a:cxnSpLocks/>
            <a:stCxn id="6" idx="3"/>
            <a:endCxn id="11" idx="7"/>
          </p:cNvCxnSpPr>
          <p:nvPr/>
        </p:nvCxnSpPr>
        <p:spPr>
          <a:xfrm flipH="1">
            <a:off x="6833803" y="3417013"/>
            <a:ext cx="500046" cy="507689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D213B9-C16F-F0A6-ABA0-15BF4F94CE53}"/>
              </a:ext>
            </a:extLst>
          </p:cNvPr>
          <p:cNvCxnSpPr>
            <a:cxnSpLocks/>
            <a:stCxn id="6" idx="5"/>
            <a:endCxn id="28" idx="1"/>
          </p:cNvCxnSpPr>
          <p:nvPr/>
        </p:nvCxnSpPr>
        <p:spPr>
          <a:xfrm>
            <a:off x="7801929" y="3417013"/>
            <a:ext cx="502866" cy="507689"/>
          </a:xfrm>
          <a:prstGeom prst="line">
            <a:avLst/>
          </a:prstGeom>
          <a:ln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C6DCF4E-303B-61F5-434C-7F8DE2DDF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574452"/>
              </p:ext>
            </p:extLst>
          </p:nvPr>
        </p:nvGraphicFramePr>
        <p:xfrm>
          <a:off x="823213" y="3649028"/>
          <a:ext cx="3906720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76680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840AA5E4-6326-ABEC-4A9D-B06CD4EA5CF3}"/>
              </a:ext>
            </a:extLst>
          </p:cNvPr>
          <p:cNvSpPr/>
          <p:nvPr/>
        </p:nvSpPr>
        <p:spPr>
          <a:xfrm>
            <a:off x="820883" y="4723664"/>
            <a:ext cx="3906721" cy="33098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717E559-3895-D686-29B4-4AD7F8E6D325}"/>
              </a:ext>
            </a:extLst>
          </p:cNvPr>
          <p:cNvSpPr/>
          <p:nvPr/>
        </p:nvSpPr>
        <p:spPr>
          <a:xfrm>
            <a:off x="6268781" y="3827760"/>
            <a:ext cx="661964" cy="661964"/>
          </a:xfrm>
          <a:prstGeom prst="flowChartConnector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LID4096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B3D91131-7AC3-6C05-3C8A-FB6673C7B48C}"/>
              </a:ext>
            </a:extLst>
          </p:cNvPr>
          <p:cNvSpPr/>
          <p:nvPr/>
        </p:nvSpPr>
        <p:spPr>
          <a:xfrm>
            <a:off x="8207853" y="3827760"/>
            <a:ext cx="661964" cy="661964"/>
          </a:xfrm>
          <a:prstGeom prst="flowChartConnector">
            <a:avLst/>
          </a:prstGeom>
          <a:noFill/>
          <a:ln w="19050">
            <a:solidFill>
              <a:srgbClr val="EAEA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163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9F09B-2DD3-320C-C650-16956805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E479-C4B5-8014-2CDF-286190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707F9A-604C-55E1-3697-F9245D9AF7FA}"/>
              </a:ext>
            </a:extLst>
          </p:cNvPr>
          <p:cNvGrpSpPr/>
          <p:nvPr/>
        </p:nvGrpSpPr>
        <p:grpSpPr>
          <a:xfrm>
            <a:off x="820884" y="1097669"/>
            <a:ext cx="3926662" cy="2692011"/>
            <a:chOff x="820884" y="1105852"/>
            <a:chExt cx="2943222" cy="2281368"/>
          </a:xfrm>
        </p:grpSpPr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88C23C96-98E2-DF78-82C4-7FEE740248B5}"/>
                </a:ext>
              </a:extLst>
            </p:cNvPr>
            <p:cNvSpPr txBox="1">
              <a:spLocks/>
            </p:cNvSpPr>
            <p:nvPr/>
          </p:nvSpPr>
          <p:spPr>
            <a:xfrm>
              <a:off x="820884" y="1105852"/>
              <a:ext cx="2943222" cy="228136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 #2: Use the Min-Heap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 J3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J3 has: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heap size: size(pq) = 2	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6BBF66D-95F3-1841-4477-BC0DA0DBB934}"/>
                </a:ext>
              </a:extLst>
            </p:cNvPr>
            <p:cNvGrpSpPr/>
            <p:nvPr/>
          </p:nvGrpSpPr>
          <p:grpSpPr>
            <a:xfrm>
              <a:off x="1347903" y="2183935"/>
              <a:ext cx="1424081" cy="595669"/>
              <a:chOff x="5978994" y="2465793"/>
              <a:chExt cx="1424081" cy="66402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010E84F-CED4-241E-F07F-5718E7BB5B10}"/>
                  </a:ext>
                </a:extLst>
              </p:cNvPr>
              <p:cNvSpPr/>
              <p:nvPr/>
            </p:nvSpPr>
            <p:spPr>
              <a:xfrm>
                <a:off x="5978994" y="2465793"/>
                <a:ext cx="42800" cy="66402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5B9078D-FDEB-FCC9-CC15-9F21FD45B381}"/>
                  </a:ext>
                </a:extLst>
              </p:cNvPr>
              <p:cNvSpPr/>
              <p:nvPr/>
            </p:nvSpPr>
            <p:spPr>
              <a:xfrm>
                <a:off x="6004660" y="2465793"/>
                <a:ext cx="1398415" cy="6640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deadline = 2</a:t>
                </a:r>
              </a:p>
              <a:p>
                <a:pPr algn="ctr"/>
                <a:r>
                  <a:rPr lang="en-US" sz="1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profit = 27</a:t>
                </a:r>
              </a:p>
            </p:txBody>
          </p:sp>
        </p:grp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3100143-3E7F-4330-865C-DBCE12D8A3B7}"/>
              </a:ext>
            </a:extLst>
          </p:cNvPr>
          <p:cNvSpPr txBox="1">
            <a:spLocks/>
          </p:cNvSpPr>
          <p:nvPr/>
        </p:nvSpPr>
        <p:spPr>
          <a:xfrm>
            <a:off x="5429375" y="1105852"/>
            <a:ext cx="5941741" cy="5483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extra space before deadline 2.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smallest selected profit: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pq.minimum() = 25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27 &gt; 25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, remove 25 and insert 27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C0E95C2-C044-EB31-9BCA-49181B531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76477"/>
              </p:ext>
            </p:extLst>
          </p:nvPr>
        </p:nvGraphicFramePr>
        <p:xfrm>
          <a:off x="840826" y="4007983"/>
          <a:ext cx="3906720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76680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0C282BA4-BBE9-4946-EE2F-55A13DDB57BD}"/>
              </a:ext>
            </a:extLst>
          </p:cNvPr>
          <p:cNvSpPr/>
          <p:nvPr/>
        </p:nvSpPr>
        <p:spPr>
          <a:xfrm>
            <a:off x="840826" y="5394960"/>
            <a:ext cx="3888265" cy="36537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0B7489-F6B4-72EC-0898-2F322537D85E}"/>
              </a:ext>
            </a:extLst>
          </p:cNvPr>
          <p:cNvCxnSpPr/>
          <p:nvPr/>
        </p:nvCxnSpPr>
        <p:spPr>
          <a:xfrm>
            <a:off x="8438618" y="5699835"/>
            <a:ext cx="421259" cy="0"/>
          </a:xfrm>
          <a:prstGeom prst="straightConnector1">
            <a:avLst/>
          </a:prstGeom>
          <a:ln w="76200">
            <a:solidFill>
              <a:srgbClr val="14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7C16193-8B7F-0B39-AE98-09962895FA42}"/>
              </a:ext>
            </a:extLst>
          </p:cNvPr>
          <p:cNvGrpSpPr/>
          <p:nvPr/>
        </p:nvGrpSpPr>
        <p:grpSpPr>
          <a:xfrm>
            <a:off x="6427858" y="4789710"/>
            <a:ext cx="1793424" cy="1796818"/>
            <a:chOff x="6319561" y="4645267"/>
            <a:chExt cx="1793424" cy="17968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A2D4778-6263-03FF-AD7A-C3BC6B66B2C8}"/>
                </a:ext>
              </a:extLst>
            </p:cNvPr>
            <p:cNvGrpSpPr/>
            <p:nvPr/>
          </p:nvGrpSpPr>
          <p:grpSpPr>
            <a:xfrm>
              <a:off x="6319561" y="4645267"/>
              <a:ext cx="1590573" cy="1796818"/>
              <a:chOff x="7655649" y="3548413"/>
              <a:chExt cx="1590573" cy="179681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7FAE5EF-68A4-D2A8-01CC-C10CD17372BB}"/>
                  </a:ext>
                </a:extLst>
              </p:cNvPr>
              <p:cNvGrpSpPr/>
              <p:nvPr/>
            </p:nvGrpSpPr>
            <p:grpSpPr>
              <a:xfrm>
                <a:off x="7655649" y="3710689"/>
                <a:ext cx="1462442" cy="1634542"/>
                <a:chOff x="6670941" y="2851991"/>
                <a:chExt cx="1462442" cy="1634542"/>
              </a:xfrm>
            </p:grpSpPr>
            <p:sp>
              <p:nvSpPr>
                <p:cNvPr id="6" name="Flowchart: Connector 5">
                  <a:extLst>
                    <a:ext uri="{FF2B5EF4-FFF2-40B4-BE49-F238E27FC236}">
                      <a16:creationId xmlns:a16="http://schemas.microsoft.com/office/drawing/2014/main" id="{17D060E8-D995-3DCE-76AA-8BAAC18E538A}"/>
                    </a:ext>
                  </a:extLst>
                </p:cNvPr>
                <p:cNvSpPr/>
                <p:nvPr/>
              </p:nvSpPr>
              <p:spPr>
                <a:xfrm>
                  <a:off x="7236907" y="2851991"/>
                  <a:ext cx="661964" cy="661964"/>
                </a:xfrm>
                <a:prstGeom prst="flowChartConnector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25</a:t>
                  </a:r>
                  <a:endParaRPr lang="LID4096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521E0689-3926-B4CB-0C0C-93DBCCF38CC8}"/>
                    </a:ext>
                  </a:extLst>
                </p:cNvPr>
                <p:cNvCxnSpPr>
                  <a:cxnSpLocks/>
                  <a:stCxn id="6" idx="3"/>
                  <a:endCxn id="11" idx="0"/>
                </p:cNvCxnSpPr>
                <p:nvPr/>
              </p:nvCxnSpPr>
              <p:spPr>
                <a:xfrm flipH="1">
                  <a:off x="7001923" y="3417013"/>
                  <a:ext cx="331926" cy="407556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B1BF2033-D2AD-B75B-1E0B-694E020C9C26}"/>
                    </a:ext>
                  </a:extLst>
                </p:cNvPr>
                <p:cNvCxnSpPr>
                  <a:cxnSpLocks/>
                  <a:stCxn id="6" idx="5"/>
                  <a:endCxn id="37" idx="0"/>
                </p:cNvCxnSpPr>
                <p:nvPr/>
              </p:nvCxnSpPr>
              <p:spPr>
                <a:xfrm>
                  <a:off x="7801929" y="3417013"/>
                  <a:ext cx="331454" cy="407556"/>
                </a:xfrm>
                <a:prstGeom prst="line">
                  <a:avLst/>
                </a:prstGeom>
                <a:ln>
                  <a:solidFill>
                    <a:srgbClr val="EAEAE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Flowchart: Connector 10">
                  <a:extLst>
                    <a:ext uri="{FF2B5EF4-FFF2-40B4-BE49-F238E27FC236}">
                      <a16:creationId xmlns:a16="http://schemas.microsoft.com/office/drawing/2014/main" id="{57F2BD37-B5D1-48DC-14B5-EEE5DC1E63A5}"/>
                    </a:ext>
                  </a:extLst>
                </p:cNvPr>
                <p:cNvSpPr/>
                <p:nvPr/>
              </p:nvSpPr>
              <p:spPr>
                <a:xfrm>
                  <a:off x="6670941" y="3824569"/>
                  <a:ext cx="661964" cy="661964"/>
                </a:xfrm>
                <a:prstGeom prst="flowChartConnector">
                  <a:avLst/>
                </a:pr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14" name="Graphic 13" descr="Close with solid fill">
                <a:extLst>
                  <a:ext uri="{FF2B5EF4-FFF2-40B4-BE49-F238E27FC236}">
                    <a16:creationId xmlns:a16="http://schemas.microsoft.com/office/drawing/2014/main" id="{1F671C2A-F11C-CD2C-EE6F-7599ECEFF7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835474" y="3548413"/>
                <a:ext cx="410748" cy="410748"/>
              </a:xfrm>
              <a:prstGeom prst="rect">
                <a:avLst/>
              </a:prstGeom>
            </p:spPr>
          </p:pic>
        </p:grp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38B2A004-0F00-3D76-90A2-323B354BB436}"/>
                </a:ext>
              </a:extLst>
            </p:cNvPr>
            <p:cNvSpPr/>
            <p:nvPr/>
          </p:nvSpPr>
          <p:spPr>
            <a:xfrm>
              <a:off x="7451021" y="5780121"/>
              <a:ext cx="661964" cy="661964"/>
            </a:xfrm>
            <a:prstGeom prst="flowChartConnector">
              <a:avLst/>
            </a:prstGeom>
            <a:noFill/>
            <a:ln w="19050">
              <a:solidFill>
                <a:srgbClr val="EAEA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E1745D6-A308-B3EE-B146-FAE46E0F0CD7}"/>
              </a:ext>
            </a:extLst>
          </p:cNvPr>
          <p:cNvGrpSpPr/>
          <p:nvPr/>
        </p:nvGrpSpPr>
        <p:grpSpPr>
          <a:xfrm>
            <a:off x="9022634" y="4747911"/>
            <a:ext cx="1835497" cy="1838617"/>
            <a:chOff x="8786932" y="4624419"/>
            <a:chExt cx="1835497" cy="183861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BA39812-BA9F-AF0E-0FBC-76C3E70F7E18}"/>
                </a:ext>
              </a:extLst>
            </p:cNvPr>
            <p:cNvGrpSpPr/>
            <p:nvPr/>
          </p:nvGrpSpPr>
          <p:grpSpPr>
            <a:xfrm>
              <a:off x="8786932" y="4624419"/>
              <a:ext cx="1542940" cy="1838617"/>
              <a:chOff x="9543588" y="3551386"/>
              <a:chExt cx="1542940" cy="1838617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BD13254-A94A-BB29-7825-8EA43FEA7D7A}"/>
                  </a:ext>
                </a:extLst>
              </p:cNvPr>
              <p:cNvGrpSpPr/>
              <p:nvPr/>
            </p:nvGrpSpPr>
            <p:grpSpPr>
              <a:xfrm>
                <a:off x="9543588" y="3710689"/>
                <a:ext cx="1504515" cy="1679314"/>
                <a:chOff x="6670469" y="2851991"/>
                <a:chExt cx="1504515" cy="1679314"/>
              </a:xfrm>
            </p:grpSpPr>
            <p:sp>
              <p:nvSpPr>
                <p:cNvPr id="5" name="Flowchart: Connector 4">
                  <a:extLst>
                    <a:ext uri="{FF2B5EF4-FFF2-40B4-BE49-F238E27FC236}">
                      <a16:creationId xmlns:a16="http://schemas.microsoft.com/office/drawing/2014/main" id="{500B9CD3-A211-D131-794F-0E9940B8ED8A}"/>
                    </a:ext>
                  </a:extLst>
                </p:cNvPr>
                <p:cNvSpPr/>
                <p:nvPr/>
              </p:nvSpPr>
              <p:spPr>
                <a:xfrm>
                  <a:off x="7236907" y="2851991"/>
                  <a:ext cx="661964" cy="661964"/>
                </a:xfrm>
                <a:prstGeom prst="flowChartConnector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27</a:t>
                  </a:r>
                  <a:endParaRPr lang="LID4096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DA6241C-7AD1-16BD-9A93-2AFF7C1786BB}"/>
                    </a:ext>
                  </a:extLst>
                </p:cNvPr>
                <p:cNvCxnSpPr>
                  <a:cxnSpLocks/>
                  <a:stCxn id="5" idx="3"/>
                  <a:endCxn id="12" idx="0"/>
                </p:cNvCxnSpPr>
                <p:nvPr/>
              </p:nvCxnSpPr>
              <p:spPr>
                <a:xfrm flipH="1">
                  <a:off x="7001451" y="3417013"/>
                  <a:ext cx="332398" cy="452328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1167FBD7-BF72-070B-8625-7B1A181BABD0}"/>
                    </a:ext>
                  </a:extLst>
                </p:cNvPr>
                <p:cNvCxnSpPr>
                  <a:cxnSpLocks/>
                  <a:stCxn id="5" idx="5"/>
                  <a:endCxn id="39" idx="0"/>
                </p:cNvCxnSpPr>
                <p:nvPr/>
              </p:nvCxnSpPr>
              <p:spPr>
                <a:xfrm>
                  <a:off x="7801929" y="3417013"/>
                  <a:ext cx="373055" cy="452328"/>
                </a:xfrm>
                <a:prstGeom prst="line">
                  <a:avLst/>
                </a:prstGeom>
                <a:ln>
                  <a:solidFill>
                    <a:srgbClr val="EAEAE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Flowchart: Connector 11">
                  <a:extLst>
                    <a:ext uri="{FF2B5EF4-FFF2-40B4-BE49-F238E27FC236}">
                      <a16:creationId xmlns:a16="http://schemas.microsoft.com/office/drawing/2014/main" id="{D5B56447-70BE-0C4C-696F-5CD6F0FD5561}"/>
                    </a:ext>
                  </a:extLst>
                </p:cNvPr>
                <p:cNvSpPr/>
                <p:nvPr/>
              </p:nvSpPr>
              <p:spPr>
                <a:xfrm>
                  <a:off x="6670469" y="3869341"/>
                  <a:ext cx="661964" cy="661964"/>
                </a:xfrm>
                <a:prstGeom prst="flowChartConnector">
                  <a:avLst/>
                </a:pr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</a:t>
                  </a:r>
                  <a:endParaRPr lang="LID4096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16" name="Graphic 15" descr="Checkmark with solid fill">
                <a:extLst>
                  <a:ext uri="{FF2B5EF4-FFF2-40B4-BE49-F238E27FC236}">
                    <a16:creationId xmlns:a16="http://schemas.microsoft.com/office/drawing/2014/main" id="{D388FEE4-689F-880E-D575-E41F647B5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675048" y="3551386"/>
                <a:ext cx="411480" cy="411480"/>
              </a:xfrm>
              <a:prstGeom prst="rect">
                <a:avLst/>
              </a:prstGeom>
            </p:spPr>
          </p:pic>
        </p:grp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4552B513-E5A7-4EC5-AACA-B9630459518B}"/>
                </a:ext>
              </a:extLst>
            </p:cNvPr>
            <p:cNvSpPr/>
            <p:nvPr/>
          </p:nvSpPr>
          <p:spPr>
            <a:xfrm>
              <a:off x="9960465" y="5801072"/>
              <a:ext cx="661964" cy="661964"/>
            </a:xfrm>
            <a:prstGeom prst="flowChartConnector">
              <a:avLst/>
            </a:prstGeom>
            <a:noFill/>
            <a:ln w="19050">
              <a:solidFill>
                <a:srgbClr val="EAEA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9FA7D0F-124F-460F-2550-643ACE802A19}"/>
              </a:ext>
            </a:extLst>
          </p:cNvPr>
          <p:cNvGrpSpPr/>
          <p:nvPr/>
        </p:nvGrpSpPr>
        <p:grpSpPr>
          <a:xfrm>
            <a:off x="6233480" y="1469388"/>
            <a:ext cx="2047658" cy="743345"/>
            <a:chOff x="6233480" y="1568737"/>
            <a:chExt cx="2047658" cy="74334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8A18135-40E8-9D75-3CCF-251C6775F250}"/>
                </a:ext>
              </a:extLst>
            </p:cNvPr>
            <p:cNvSpPr/>
            <p:nvPr/>
          </p:nvSpPr>
          <p:spPr>
            <a:xfrm>
              <a:off x="6233480" y="1574649"/>
              <a:ext cx="91440" cy="7315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2D8BDB8-5064-C5BB-2A3A-B9C331DD607C}"/>
                </a:ext>
              </a:extLst>
            </p:cNvPr>
            <p:cNvSpPr txBox="1"/>
            <p:nvPr/>
          </p:nvSpPr>
          <p:spPr>
            <a:xfrm>
              <a:off x="6263640" y="1568737"/>
              <a:ext cx="2017498" cy="74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&gt; size(pq)</a:t>
              </a:r>
            </a:p>
            <a:p>
              <a:pPr>
                <a:lnSpc>
                  <a:spcPct val="150000"/>
                </a:lnSpc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&gt; 2 is 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304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9733-88C9-0113-421D-CFABA984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3A65-51F2-CF83-F24D-944D8E4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C7313C-7680-9586-FFF9-8A7455476406}"/>
              </a:ext>
            </a:extLst>
          </p:cNvPr>
          <p:cNvGrpSpPr/>
          <p:nvPr/>
        </p:nvGrpSpPr>
        <p:grpSpPr>
          <a:xfrm>
            <a:off x="820883" y="1105852"/>
            <a:ext cx="3906719" cy="2859724"/>
            <a:chOff x="4371976" y="3965577"/>
            <a:chExt cx="2943222" cy="2543174"/>
          </a:xfrm>
        </p:grpSpPr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0088531A-9316-6093-B5EB-E9F5580195AB}"/>
                </a:ext>
              </a:extLst>
            </p:cNvPr>
            <p:cNvSpPr txBox="1">
              <a:spLocks/>
            </p:cNvSpPr>
            <p:nvPr/>
          </p:nvSpPr>
          <p:spPr>
            <a:xfrm>
              <a:off x="4371976" y="3965577"/>
              <a:ext cx="2943222" cy="254317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 #2: Use the Min-Heap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 J5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J5 has: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heap size: size(pq) = 2	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97E971A-DF1A-F432-834B-44F629118267}"/>
                </a:ext>
              </a:extLst>
            </p:cNvPr>
            <p:cNvGrpSpPr/>
            <p:nvPr/>
          </p:nvGrpSpPr>
          <p:grpSpPr>
            <a:xfrm>
              <a:off x="4901686" y="5217307"/>
              <a:ext cx="1901763" cy="666069"/>
              <a:chOff x="5944427" y="2611356"/>
              <a:chExt cx="1901763" cy="66606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B7AA340-390E-C437-5CC9-B73F89A862F1}"/>
                  </a:ext>
                </a:extLst>
              </p:cNvPr>
              <p:cNvSpPr/>
              <p:nvPr/>
            </p:nvSpPr>
            <p:spPr>
              <a:xfrm>
                <a:off x="5944427" y="2611356"/>
                <a:ext cx="35976" cy="66402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766473-2A58-80B4-DE7D-AE1C43FEFEBB}"/>
                  </a:ext>
                </a:extLst>
              </p:cNvPr>
              <p:cNvSpPr/>
              <p:nvPr/>
            </p:nvSpPr>
            <p:spPr>
              <a:xfrm>
                <a:off x="5980403" y="2613397"/>
                <a:ext cx="1865787" cy="6640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deadline = 3</a:t>
                </a:r>
              </a:p>
              <a:p>
                <a:pPr algn="ctr"/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profit = 15</a:t>
                </a:r>
              </a:p>
            </p:txBody>
          </p:sp>
        </p:grp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14B4E92-3B3D-90F4-060C-CCBE7EAA44A9}"/>
              </a:ext>
            </a:extLst>
          </p:cNvPr>
          <p:cNvSpPr txBox="1">
            <a:spLocks/>
          </p:cNvSpPr>
          <p:nvPr/>
        </p:nvSpPr>
        <p:spPr>
          <a:xfrm>
            <a:off x="5388103" y="1105852"/>
            <a:ext cx="5983014" cy="511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&gt; size(pq)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 &gt; 2 is true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space, so insert 15.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FCC49C7-6C2C-2991-F0EF-0D13C4A64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214997"/>
              </p:ext>
            </p:extLst>
          </p:nvPr>
        </p:nvGraphicFramePr>
        <p:xfrm>
          <a:off x="820883" y="4117976"/>
          <a:ext cx="3906720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76680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976680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5BBE19F5-26F3-BC74-54FE-2A04432C9F66}"/>
              </a:ext>
            </a:extLst>
          </p:cNvPr>
          <p:cNvSpPr/>
          <p:nvPr/>
        </p:nvSpPr>
        <p:spPr>
          <a:xfrm>
            <a:off x="820883" y="5890114"/>
            <a:ext cx="3906721" cy="33098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6A0E16-A849-04D0-77B8-589D5D138F05}"/>
              </a:ext>
            </a:extLst>
          </p:cNvPr>
          <p:cNvGrpSpPr/>
          <p:nvPr/>
        </p:nvGrpSpPr>
        <p:grpSpPr>
          <a:xfrm>
            <a:off x="6760947" y="2632054"/>
            <a:ext cx="2844621" cy="1593892"/>
            <a:chOff x="7005800" y="3649026"/>
            <a:chExt cx="2844621" cy="159389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7FF099F-CD4E-D024-A4C4-45BA0771EA4D}"/>
                </a:ext>
              </a:extLst>
            </p:cNvPr>
            <p:cNvGrpSpPr/>
            <p:nvPr/>
          </p:nvGrpSpPr>
          <p:grpSpPr>
            <a:xfrm>
              <a:off x="7005800" y="3649026"/>
              <a:ext cx="2279599" cy="1566254"/>
              <a:chOff x="6156174" y="2851991"/>
              <a:chExt cx="2279599" cy="1566254"/>
            </a:xfrm>
          </p:grpSpPr>
          <p:sp>
            <p:nvSpPr>
              <p:cNvPr id="6" name="Flowchart: Connector 5">
                <a:extLst>
                  <a:ext uri="{FF2B5EF4-FFF2-40B4-BE49-F238E27FC236}">
                    <a16:creationId xmlns:a16="http://schemas.microsoft.com/office/drawing/2014/main" id="{E789ED74-0EC7-DF9D-A520-CE16196C847C}"/>
                  </a:ext>
                </a:extLst>
              </p:cNvPr>
              <p:cNvSpPr/>
              <p:nvPr/>
            </p:nvSpPr>
            <p:spPr>
              <a:xfrm>
                <a:off x="7236907" y="2851991"/>
                <a:ext cx="661964" cy="661964"/>
              </a:xfrm>
              <a:prstGeom prst="flowChartConnecto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LID4096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5CB9384-BFA9-97D5-2539-4DB5F25A65A4}"/>
                  </a:ext>
                </a:extLst>
              </p:cNvPr>
              <p:cNvCxnSpPr>
                <a:cxnSpLocks/>
                <a:stCxn id="6" idx="3"/>
                <a:endCxn id="11" idx="7"/>
              </p:cNvCxnSpPr>
              <p:nvPr/>
            </p:nvCxnSpPr>
            <p:spPr>
              <a:xfrm flipH="1">
                <a:off x="6721196" y="3417013"/>
                <a:ext cx="612653" cy="436210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55FEB05-3A11-80BB-92DC-8B95E73A5581}"/>
                  </a:ext>
                </a:extLst>
              </p:cNvPr>
              <p:cNvCxnSpPr>
                <a:cxnSpLocks/>
                <a:stCxn id="6" idx="5"/>
                <a:endCxn id="5" idx="1"/>
              </p:cNvCxnSpPr>
              <p:nvPr/>
            </p:nvCxnSpPr>
            <p:spPr>
              <a:xfrm>
                <a:off x="7801929" y="3417013"/>
                <a:ext cx="633844" cy="463848"/>
              </a:xfrm>
              <a:prstGeom prst="line">
                <a:avLst/>
              </a:prstGeom>
              <a:ln>
                <a:solidFill>
                  <a:srgbClr val="EAEAE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Flowchart: Connector 10">
                <a:extLst>
                  <a:ext uri="{FF2B5EF4-FFF2-40B4-BE49-F238E27FC236}">
                    <a16:creationId xmlns:a16="http://schemas.microsoft.com/office/drawing/2014/main" id="{B94CBAB4-641B-FE54-61F6-8248BEDB0ACC}"/>
                  </a:ext>
                </a:extLst>
              </p:cNvPr>
              <p:cNvSpPr/>
              <p:nvPr/>
            </p:nvSpPr>
            <p:spPr>
              <a:xfrm>
                <a:off x="6156174" y="3756281"/>
                <a:ext cx="661964" cy="661964"/>
              </a:xfrm>
              <a:prstGeom prst="flowChartConnector">
                <a:avLst/>
              </a:prstGeom>
              <a:noFill/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endParaRPr lang="LID4096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9107C07C-2493-5569-FD25-1378D2B989FA}"/>
                </a:ext>
              </a:extLst>
            </p:cNvPr>
            <p:cNvSpPr/>
            <p:nvPr/>
          </p:nvSpPr>
          <p:spPr>
            <a:xfrm>
              <a:off x="9188457" y="4580954"/>
              <a:ext cx="661964" cy="661964"/>
            </a:xfrm>
            <a:prstGeom prst="flowChartConnector">
              <a:avLst/>
            </a:prstGeom>
            <a:noFill/>
            <a:ln w="19050">
              <a:solidFill>
                <a:srgbClr val="EAEA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5306C0-06CA-2537-8DA0-2DDDB901EA26}"/>
              </a:ext>
            </a:extLst>
          </p:cNvPr>
          <p:cNvGrpSpPr/>
          <p:nvPr/>
        </p:nvGrpSpPr>
        <p:grpSpPr>
          <a:xfrm>
            <a:off x="6760947" y="4460420"/>
            <a:ext cx="2844621" cy="1593892"/>
            <a:chOff x="7005800" y="3649026"/>
            <a:chExt cx="2844621" cy="159389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0B843DE-3075-0225-1AFB-27535AD553B3}"/>
                </a:ext>
              </a:extLst>
            </p:cNvPr>
            <p:cNvGrpSpPr/>
            <p:nvPr/>
          </p:nvGrpSpPr>
          <p:grpSpPr>
            <a:xfrm>
              <a:off x="7005800" y="3649026"/>
              <a:ext cx="2279599" cy="1566254"/>
              <a:chOff x="6156174" y="2851991"/>
              <a:chExt cx="2279599" cy="1566254"/>
            </a:xfrm>
          </p:grpSpPr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3D3560A7-1AAA-EAF2-A0D8-1E52448E36A1}"/>
                  </a:ext>
                </a:extLst>
              </p:cNvPr>
              <p:cNvSpPr/>
              <p:nvPr/>
            </p:nvSpPr>
            <p:spPr>
              <a:xfrm>
                <a:off x="7236907" y="2851991"/>
                <a:ext cx="661964" cy="661964"/>
              </a:xfrm>
              <a:prstGeom prst="flowChartConnecto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LID4096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C28F436-064C-74B0-49AB-9208941638D8}"/>
                  </a:ext>
                </a:extLst>
              </p:cNvPr>
              <p:cNvCxnSpPr>
                <a:cxnSpLocks/>
                <a:stCxn id="20" idx="3"/>
                <a:endCxn id="27" idx="7"/>
              </p:cNvCxnSpPr>
              <p:nvPr/>
            </p:nvCxnSpPr>
            <p:spPr>
              <a:xfrm flipH="1">
                <a:off x="6721196" y="3417013"/>
                <a:ext cx="612653" cy="436210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F94F7EF-E8F0-0259-0BAD-52F2E126494D}"/>
                  </a:ext>
                </a:extLst>
              </p:cNvPr>
              <p:cNvCxnSpPr>
                <a:cxnSpLocks/>
                <a:stCxn id="20" idx="5"/>
                <a:endCxn id="19" idx="1"/>
              </p:cNvCxnSpPr>
              <p:nvPr/>
            </p:nvCxnSpPr>
            <p:spPr>
              <a:xfrm>
                <a:off x="7801929" y="3417013"/>
                <a:ext cx="633844" cy="463848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Flowchart: Connector 26">
                <a:extLst>
                  <a:ext uri="{FF2B5EF4-FFF2-40B4-BE49-F238E27FC236}">
                    <a16:creationId xmlns:a16="http://schemas.microsoft.com/office/drawing/2014/main" id="{50B4BAC9-21B7-0FDC-F33F-A2FE92AA2613}"/>
                  </a:ext>
                </a:extLst>
              </p:cNvPr>
              <p:cNvSpPr/>
              <p:nvPr/>
            </p:nvSpPr>
            <p:spPr>
              <a:xfrm>
                <a:off x="6156174" y="3756281"/>
                <a:ext cx="661964" cy="661964"/>
              </a:xfrm>
              <a:prstGeom prst="flowChartConnector">
                <a:avLst/>
              </a:prstGeom>
              <a:noFill/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endParaRPr lang="LID4096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024D6B22-76F1-8EED-484C-3FACF739976F}"/>
                </a:ext>
              </a:extLst>
            </p:cNvPr>
            <p:cNvSpPr/>
            <p:nvPr/>
          </p:nvSpPr>
          <p:spPr>
            <a:xfrm>
              <a:off x="9188457" y="4580954"/>
              <a:ext cx="661964" cy="661964"/>
            </a:xfrm>
            <a:prstGeom prst="flowChartConnector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LID4096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9FDBE3-CD72-BA6E-A3AD-F49B2FE5442A}"/>
              </a:ext>
            </a:extLst>
          </p:cNvPr>
          <p:cNvCxnSpPr>
            <a:cxnSpLocks/>
          </p:cNvCxnSpPr>
          <p:nvPr/>
        </p:nvCxnSpPr>
        <p:spPr>
          <a:xfrm rot="5400000">
            <a:off x="7956042" y="4060827"/>
            <a:ext cx="421259" cy="0"/>
          </a:xfrm>
          <a:prstGeom prst="straightConnector1">
            <a:avLst/>
          </a:prstGeom>
          <a:ln w="76200">
            <a:solidFill>
              <a:srgbClr val="14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109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5747-9C80-E2D1-13A6-7874A210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BA11A21-74C7-F89F-3911-074830A73EAD}"/>
              </a:ext>
            </a:extLst>
          </p:cNvPr>
          <p:cNvSpPr/>
          <p:nvPr/>
        </p:nvSpPr>
        <p:spPr>
          <a:xfrm>
            <a:off x="1270001" y="5779786"/>
            <a:ext cx="1960880" cy="8096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0182E-B32C-7155-D3FB-84A7BFE9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4D21D61-F494-733C-689E-2C5B331DC2C7}"/>
              </a:ext>
            </a:extLst>
          </p:cNvPr>
          <p:cNvSpPr txBox="1">
            <a:spLocks/>
          </p:cNvSpPr>
          <p:nvPr/>
        </p:nvSpPr>
        <p:spPr>
          <a:xfrm>
            <a:off x="800100" y="1078214"/>
            <a:ext cx="9587102" cy="5483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Add All Heap Profits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heap contains the selected job profits: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them: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15 + 100 + 27 =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142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Answer: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scheduled = 3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= 142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26C835-8C55-D574-4C43-A7BD508E7B62}"/>
              </a:ext>
            </a:extLst>
          </p:cNvPr>
          <p:cNvGrpSpPr/>
          <p:nvPr/>
        </p:nvGrpSpPr>
        <p:grpSpPr>
          <a:xfrm>
            <a:off x="4412915" y="1858877"/>
            <a:ext cx="4100324" cy="2297485"/>
            <a:chOff x="7005800" y="3649026"/>
            <a:chExt cx="2844621" cy="159389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1E81C1-0D91-6985-BF80-F25109A59765}"/>
                </a:ext>
              </a:extLst>
            </p:cNvPr>
            <p:cNvGrpSpPr/>
            <p:nvPr/>
          </p:nvGrpSpPr>
          <p:grpSpPr>
            <a:xfrm>
              <a:off x="7005800" y="3649026"/>
              <a:ext cx="2279599" cy="1566254"/>
              <a:chOff x="6156174" y="2851991"/>
              <a:chExt cx="2279599" cy="1566254"/>
            </a:xfrm>
          </p:grpSpPr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A795022C-1CB1-B3F4-CB45-BCE47593B3FE}"/>
                  </a:ext>
                </a:extLst>
              </p:cNvPr>
              <p:cNvSpPr/>
              <p:nvPr/>
            </p:nvSpPr>
            <p:spPr>
              <a:xfrm>
                <a:off x="7236907" y="2851991"/>
                <a:ext cx="661964" cy="661964"/>
              </a:xfrm>
              <a:prstGeom prst="flowChartConnector">
                <a:avLst/>
              </a:prstGeom>
              <a:solidFill>
                <a:srgbClr val="FFC000"/>
              </a:solidFill>
              <a:ln w="38100">
                <a:solidFill>
                  <a:srgbClr val="EE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LID4096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753BB19-D640-3F18-5395-7F5E9FB770CE}"/>
                  </a:ext>
                </a:extLst>
              </p:cNvPr>
              <p:cNvCxnSpPr>
                <a:cxnSpLocks/>
                <a:stCxn id="14" idx="3"/>
                <a:endCxn id="18" idx="7"/>
              </p:cNvCxnSpPr>
              <p:nvPr/>
            </p:nvCxnSpPr>
            <p:spPr>
              <a:xfrm flipH="1">
                <a:off x="6721196" y="3417013"/>
                <a:ext cx="612653" cy="436210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2B0F8CD-8924-9F39-0E49-B03FB92D0F0F}"/>
                  </a:ext>
                </a:extLst>
              </p:cNvPr>
              <p:cNvCxnSpPr>
                <a:cxnSpLocks/>
                <a:stCxn id="14" idx="5"/>
                <a:endCxn id="13" idx="1"/>
              </p:cNvCxnSpPr>
              <p:nvPr/>
            </p:nvCxnSpPr>
            <p:spPr>
              <a:xfrm>
                <a:off x="7801929" y="3417013"/>
                <a:ext cx="633844" cy="463848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Flowchart: Connector 17">
                <a:extLst>
                  <a:ext uri="{FF2B5EF4-FFF2-40B4-BE49-F238E27FC236}">
                    <a16:creationId xmlns:a16="http://schemas.microsoft.com/office/drawing/2014/main" id="{4EC26497-3092-61A8-30BE-92E3DBB6BA6D}"/>
                  </a:ext>
                </a:extLst>
              </p:cNvPr>
              <p:cNvSpPr/>
              <p:nvPr/>
            </p:nvSpPr>
            <p:spPr>
              <a:xfrm>
                <a:off x="6156174" y="3756281"/>
                <a:ext cx="661964" cy="661964"/>
              </a:xfrm>
              <a:prstGeom prst="flowChartConnector">
                <a:avLst/>
              </a:prstGeom>
              <a:solidFill>
                <a:srgbClr val="FFC000"/>
              </a:solidFill>
              <a:ln w="38100">
                <a:solidFill>
                  <a:srgbClr val="EE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endParaRPr lang="LID4096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5165D88A-CF58-D550-CB08-8C7391D9EEB5}"/>
                </a:ext>
              </a:extLst>
            </p:cNvPr>
            <p:cNvSpPr/>
            <p:nvPr/>
          </p:nvSpPr>
          <p:spPr>
            <a:xfrm>
              <a:off x="9188457" y="4580954"/>
              <a:ext cx="661964" cy="661964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LID409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1845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92AA-6F5B-9092-800C-4457D830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6AFA-480E-001C-AB93-1B0805B6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a Min-Heap?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F362044-4C10-84F4-172F-260A256328AC}"/>
              </a:ext>
            </a:extLst>
          </p:cNvPr>
          <p:cNvSpPr txBox="1">
            <a:spLocks/>
          </p:cNvSpPr>
          <p:nvPr/>
        </p:nvSpPr>
        <p:spPr>
          <a:xfrm>
            <a:off x="820883" y="1105852"/>
            <a:ext cx="9587102" cy="4702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a min-heap because it allows us to quickly find the selected job with the smallest profit.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useful because: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better job appears later, we can remove the lower-profit selected job and replace it with the better one</a:t>
            </a:r>
          </a:p>
        </p:txBody>
      </p:sp>
    </p:spTree>
    <p:extLst>
      <p:ext uri="{BB962C8B-B14F-4D97-AF65-F5344CB8AC3E}">
        <p14:creationId xmlns:p14="http://schemas.microsoft.com/office/powerpoint/2010/main" val="101369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1630</Words>
  <Application>Microsoft Office PowerPoint</Application>
  <PresentationFormat>Widescreen</PresentationFormat>
  <Paragraphs>430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Wingdings</vt:lpstr>
      <vt:lpstr>Office Theme</vt:lpstr>
      <vt:lpstr>Job sequencing Min-Heap Approach</vt:lpstr>
      <vt:lpstr>Main Idea</vt:lpstr>
      <vt:lpstr>Simple Analogy</vt:lpstr>
      <vt:lpstr>What is a Min-Heap</vt:lpstr>
      <vt:lpstr>Why Do We Sort by Deadline</vt:lpstr>
      <vt:lpstr>Natural Language Specification</vt:lpstr>
      <vt:lpstr>Pseudocode Notation</vt:lpstr>
      <vt:lpstr>Example #1</vt:lpstr>
      <vt:lpstr>Example #1</vt:lpstr>
      <vt:lpstr>Example #1</vt:lpstr>
      <vt:lpstr>Example #1</vt:lpstr>
      <vt:lpstr>Example #1</vt:lpstr>
      <vt:lpstr>Example #1</vt:lpstr>
      <vt:lpstr>Why Do We Use a Min-Heap?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席武牧</dc:creator>
  <cp:lastModifiedBy>席武牧</cp:lastModifiedBy>
  <cp:revision>85</cp:revision>
  <dcterms:created xsi:type="dcterms:W3CDTF">2026-05-16T16:34:24Z</dcterms:created>
  <dcterms:modified xsi:type="dcterms:W3CDTF">2026-05-22T12:17:27Z</dcterms:modified>
</cp:coreProperties>
</file>