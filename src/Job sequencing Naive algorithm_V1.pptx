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44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FB234F-C254-4838-88D6-FBC80F481C09}" type="datetimeFigureOut">
              <a:rPr lang="LID4096" smtClean="0"/>
              <a:t>05/17/2026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8C62D-D98D-413D-AF02-0CC3FE8A68F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397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latestSlot ← min(n, job.deadline) – 1 #This finds the latest possible slot where the job can be placed.</a:t>
            </a:r>
          </a:p>
          <a:p>
            <a:r>
              <a:rPr lang="" dirty="0"/>
              <a:t>Why substract 1?</a:t>
            </a:r>
          </a:p>
          <a:p>
            <a:r>
              <a:rPr lang="" dirty="0"/>
              <a:t>Because arrays start from index 0</a:t>
            </a:r>
          </a:p>
          <a:p>
            <a:endParaRPr lang="" dirty="0"/>
          </a:p>
          <a:p>
            <a:r>
              <a:rPr lang="" dirty="0"/>
              <a:t>The algorithm searches backward from the latest possible slot.</a:t>
            </a:r>
          </a:p>
          <a:p>
            <a:r>
              <a:rPr lang="" dirty="0"/>
              <a:t>Why backward?</a:t>
            </a:r>
          </a:p>
          <a:p>
            <a:r>
              <a:rPr lang="" dirty="0"/>
              <a:t>Because we want to place the job as late as possible, leaving earlier slots open for jobs with earlier deadlines.</a:t>
            </a:r>
          </a:p>
          <a:p>
            <a:endParaRPr lang="" dirty="0"/>
          </a:p>
          <a:p>
            <a:r>
              <a:rPr lang="" dirty="0"/>
              <a:t>At the end, the algorithm returns: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number of jobs scheduled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total profit earned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C8C62D-D98D-413D-AF02-0CC3FE8A68F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60507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1440-BB58-7031-9325-87B4390B5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CE23D-9D84-EC94-6CFF-EFE1BF23E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E73A-CAE4-B9F6-C73D-C2B89A75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9BB0-E714-88AC-9D5B-105FCA2F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D84A2-057C-FD11-6591-4FC70C96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94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1CE2-AB92-28DF-CA63-9FC84EE4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690D9-DB27-D29F-A4AA-56700F7FE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8C533-DF36-08BB-BAAF-ADDBB680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D3FF-4784-F662-74B9-A049B197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B1C9-653F-6CEF-C03C-17B30296A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991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94EF-E852-B7AA-4074-BF8B5A51D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02814-DFC9-3546-F99D-11878C501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008EC-E7C4-9F45-0EC9-FF66274B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4D0A-FB7A-601E-8C22-08F10CE4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0EEC7-7372-0F16-8E4F-2775171A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4318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08E7-E4EE-F6B2-1A2A-397170F0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AA166-088C-36AF-27F1-D69FBBC76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7F6D7-CF36-FE53-C014-3DAB0834C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ABD56-7748-1EF2-3C47-5E1692D62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92AFD-69C9-DE4D-8179-A80043DC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8CBAD-87F1-EBB3-9CFD-EFA92F27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633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F35F-61AA-B9A4-0000-4F811E63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674DE-3C1C-5B25-D952-2500B2D54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A35B04-69AF-0F1E-9AD3-B29A666CE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99628-00DB-ED05-743A-A6072F38C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47089-4BF3-FFA8-39C3-67C11E209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8CD37-7825-E420-4414-6EC128E3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0C10C5-D47C-AA63-D4EB-82A890F3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93CCA-C33A-2C34-5718-10B0FC98C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679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56B7-B9AD-E00F-3C68-095BFAB6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D9AB4-9F03-A357-0790-BAFAB286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0823D-D8E3-961A-228F-B26E3910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660A-43F7-92FB-FA97-0CE2A70D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818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7A764A-0261-D52A-EE5C-C7CC170C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6AA5A-D960-026C-897C-39177573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0677F-F535-4B92-7F33-D70DCC2B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57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6735B-1532-7BA2-A1C1-908C8E21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877D-5F09-1E70-D835-2FE98853C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057AB-4BD2-36A3-5995-5A0301CA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1F175-1685-AF2D-DE1E-6BB9686E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92F66-411D-9DAD-511A-CC1A4BF2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6850D-BBCA-F380-D5CE-EE69856F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000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E5A2-918B-27D0-AB8C-FF771247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A7EF0-91FC-8157-06CE-E67FCA98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31F2D-050B-E67F-F642-BAA53A985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8DF81-A398-997A-B8CA-113FA81C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59241-DA1D-EFF4-F53C-98174642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391BA-8C3F-EFCC-1851-FEDED971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645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26AE-50A0-45E0-ECBE-DF4D619C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BB946-A776-F51A-5C2B-40C6BBE0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E7250-9083-830A-06FE-5121AEC8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9C878-D3F2-3885-D5F7-2412227A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B54FB-17E8-60CB-C9E7-6A90CAEE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340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AFE88-3D80-4EF0-B9BC-1CCFB2C3C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2400-64C4-ED04-99E9-4C6115AE6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5199-DB16-5954-A3D1-EB405685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DA63-88A4-511B-6A89-FA00DE35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24869-EC64-758F-000F-71931BF2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274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C44E8-4503-F36C-A3EE-2459A220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19958-2EB3-69C7-8092-3E60328EA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D5CB2-E4B5-8AC9-8C1A-A1FF992AC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27C67-B07D-472E-9198-31A3CA13BAF5}" type="datetimeFigureOut">
              <a:rPr lang="LID4096" smtClean="0"/>
              <a:t>05/16/2026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E0FCB-7CE6-0077-D3B9-D49282495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9D3C-3586-7DA1-FA42-7C56F56EA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32C50-78F8-4035-87D9-B318F6576B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36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2725D-FFDD-D0C4-1843-F4E4C007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982" y="252858"/>
            <a:ext cx="9144000" cy="58325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sequencing Naive algorithm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0CE3B-5483-55FF-A0C2-D6704EFED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982" y="1134452"/>
            <a:ext cx="9229299" cy="134266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best jobs to do before their deadlines so that we earn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profit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00000"/>
              </a:lnSpc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Job has:</a:t>
            </a:r>
            <a:endParaRPr lang="LID4096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DEBCFA-953B-052E-E02A-53C246F8A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58322"/>
              </p:ext>
            </p:extLst>
          </p:nvPr>
        </p:nvGraphicFramePr>
        <p:xfrm>
          <a:off x="954971" y="2339609"/>
          <a:ext cx="9037320" cy="2522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122">
                  <a:extLst>
                    <a:ext uri="{9D8B030D-6E8A-4147-A177-3AD203B41FA5}">
                      <a16:colId xmlns:a16="http://schemas.microsoft.com/office/drawing/2014/main" val="994747369"/>
                    </a:ext>
                  </a:extLst>
                </a:gridCol>
                <a:gridCol w="7848198">
                  <a:extLst>
                    <a:ext uri="{9D8B030D-6E8A-4147-A177-3AD203B41FA5}">
                      <a16:colId xmlns:a16="http://schemas.microsoft.com/office/drawing/2014/main" val="1570146255"/>
                    </a:ext>
                  </a:extLst>
                </a:gridCol>
              </a:tblGrid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747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Money/reward gained if we complete the job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299583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Last time slot where the job can be completed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024429"/>
                  </a:ext>
                </a:extLst>
              </a:tr>
              <a:tr h="6307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position in the schedule where we place a job</a:t>
                      </a:r>
                      <a:endParaRPr lang="LID4096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917660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2B43480-9E08-2408-19C8-6470BDFB0B13}"/>
              </a:ext>
            </a:extLst>
          </p:cNvPr>
          <p:cNvGrpSpPr/>
          <p:nvPr/>
        </p:nvGrpSpPr>
        <p:grpSpPr>
          <a:xfrm>
            <a:off x="954971" y="5228864"/>
            <a:ext cx="9275444" cy="609600"/>
            <a:chOff x="1524000" y="5261812"/>
            <a:chExt cx="9189719" cy="609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AAB9A7-F797-E8F1-3CDC-EDBAE7AE1955}"/>
                </a:ext>
              </a:extLst>
            </p:cNvPr>
            <p:cNvSpPr/>
            <p:nvPr/>
          </p:nvSpPr>
          <p:spPr>
            <a:xfrm>
              <a:off x="1524000" y="5261812"/>
              <a:ext cx="106680" cy="609600"/>
            </a:xfrm>
            <a:prstGeom prst="rect">
              <a:avLst/>
            </a:prstGeom>
            <a:solidFill>
              <a:srgbClr val="EE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CB8B05C9-7545-72BB-D138-2BF6C57987D8}"/>
                </a:ext>
              </a:extLst>
            </p:cNvPr>
            <p:cNvSpPr txBox="1">
              <a:spLocks/>
            </p:cNvSpPr>
            <p:nvPr/>
          </p:nvSpPr>
          <p:spPr>
            <a:xfrm>
              <a:off x="1569719" y="5261812"/>
              <a:ext cx="9144000" cy="60960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1" algn="l">
                <a:lnSpc>
                  <a:spcPct val="150000"/>
                </a:lnSpc>
              </a:pPr>
              <a:r>
                <a:rPr lang="en-US" dirty="0">
                  <a:solidFill>
                    <a:srgbClr val="EE0000"/>
                  </a:solidFill>
                </a:rPr>
                <a:t>Each job takes </a:t>
              </a:r>
              <a:r>
                <a:rPr lang="en-US" b="1" dirty="0">
                  <a:solidFill>
                    <a:srgbClr val="EE0000"/>
                  </a:solidFill>
                </a:rPr>
                <a:t>1 unit of time</a:t>
              </a:r>
              <a:r>
                <a:rPr lang="en-US" dirty="0">
                  <a:solidFill>
                    <a:srgbClr val="EE0000"/>
                  </a:solidFill>
                </a:rPr>
                <a:t>, and only </a:t>
              </a:r>
              <a:r>
                <a:rPr lang="en-US" b="1" dirty="0">
                  <a:solidFill>
                    <a:srgbClr val="EE0000"/>
                  </a:solidFill>
                </a:rPr>
                <a:t>one job can be done in one time slot.</a:t>
              </a:r>
              <a:endParaRPr lang="LID4096" b="1" dirty="0">
                <a:solidFill>
                  <a:srgbClr val="EE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31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E6B2-1923-9487-312E-20F31BE1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553630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Idea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50402-D442-1D2B-7E8E-C151EBE34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771"/>
            <a:ext cx="10515600" cy="46550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follows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try to schedule the job with the highest profit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algorithm: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Puts all jobs into a list.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Sorts the jobs from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profit to lowest.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to place each job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 available slot before its deadline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slot is free, the job is scheduled.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not, slot is free before its deadline, the job is skipped.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it returns: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jobs completed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earned</a:t>
            </a:r>
          </a:p>
        </p:txBody>
      </p:sp>
    </p:spTree>
    <p:extLst>
      <p:ext uri="{BB962C8B-B14F-4D97-AF65-F5344CB8AC3E}">
        <p14:creationId xmlns:p14="http://schemas.microsoft.com/office/powerpoint/2010/main" val="427331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5E4C-818E-3E7B-B1F3-1692EEF0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880"/>
            <a:ext cx="10515600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Specification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EE124-A891-89D3-7560-4ED312639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726"/>
            <a:ext cx="10515600" cy="4485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C16EFD-14F6-42D9-6D6C-94C76D402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945750"/>
              </p:ext>
            </p:extLst>
          </p:nvPr>
        </p:nvGraphicFramePr>
        <p:xfrm>
          <a:off x="838200" y="1296308"/>
          <a:ext cx="10515600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271008141"/>
                    </a:ext>
                  </a:extLst>
                </a:gridCol>
              </a:tblGrid>
              <a:tr h="4799692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#1: Initialize the basic values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 the total number of jobs from the deadline list.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the number of scheduled jobs to zero and set the total profit to zero.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#2: Create a list of jobs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each job, combine its profit and deadline into one pair.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all these pairs inside a job list so that each job can be processed together with its profit and deadline.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#3: Sort jobs by profit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 all jobs in descending order according to profit.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means the job with the highest profit will be considered first.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#4: Create empty time slots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an array of time slots with size equal to the number of jobs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job slot is initially empty, meaning no job has been schedule there yet.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#5: Select jobs one by one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 through the sorted job list, starting from the job with the highest profit.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each job, find the latest possible time slot where it can be completed before its deadline.</a:t>
                      </a:r>
                    </a:p>
                    <a:p>
                      <a:endParaRPr lang="LID4096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948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733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51F5-26AB-5FE7-E06A-A3F2F2E8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261C-B396-4996-B634-7DA05322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616"/>
            <a:ext cx="10515600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Specification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DD8BC-2B84-E7D4-71E0-CE7A46F1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1514"/>
            <a:ext cx="10515600" cy="3533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LID4096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D833BA-7D61-3D80-61D7-CC84DC9B6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681886"/>
              </p:ext>
            </p:extLst>
          </p:nvPr>
        </p:nvGraphicFramePr>
        <p:xfrm>
          <a:off x="838200" y="1285082"/>
          <a:ext cx="10515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2271008141"/>
                    </a:ext>
                  </a:extLst>
                </a:gridCol>
              </a:tblGrid>
              <a:tr h="3196317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#6: Search for an available slot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Starting from the job’s latest possible slot, move backward toward the first slot.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an empty slot is found, place the job in that slot.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#7: Update the result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a job is successfully scheduled, mark that slot as occupied.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the number of scheduled jobs by one and add the job’s profit to the total profit.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#8: Skip the jobs that fit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no empty slot is found before the job’s deadline, skip that job because it cannot be completed on time.</a:t>
                      </a:r>
                    </a:p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 #9: Return the final answer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After all jobs have been checked, return the total number of scheduled jobs and the total profit earned.</a:t>
                      </a:r>
                    </a:p>
                    <a:p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948566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9BF853-CC37-8BC4-BA3F-880694B42328}"/>
              </a:ext>
            </a:extLst>
          </p:cNvPr>
          <p:cNvSpPr txBox="1">
            <a:spLocks/>
          </p:cNvSpPr>
          <p:nvPr/>
        </p:nvSpPr>
        <p:spPr>
          <a:xfrm>
            <a:off x="838200" y="5065712"/>
            <a:ext cx="10515600" cy="15664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uses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strategy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always tries to schedule the most profitable jobs first.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job is placed as late as possible before its deadline so that earlier slots remain available for other jobs.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result shows many jobs were completed and how much profit was earned.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40036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B91E-F356-795A-B11C-FAC6FEA2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C939-AEA4-0C04-CA8F-94CE228A4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098"/>
            <a:ext cx="6455229" cy="707798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Notation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CD443-D4C9-97EF-BB9B-FCEDCF408B85}"/>
              </a:ext>
            </a:extLst>
          </p:cNvPr>
          <p:cNvSpPr txBox="1"/>
          <p:nvPr/>
        </p:nvSpPr>
        <p:spPr>
          <a:xfrm>
            <a:off x="838200" y="1053422"/>
            <a:ext cx="10515600" cy="5262979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← length(deadline)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This gets the total number of jobs</a:t>
            </a:r>
            <a:endParaRPr lang="en-US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← 0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← 0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← empty list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Empty list to store each job together with its profit and deadline.</a:t>
            </a:r>
            <a:endParaRPr lang="en-US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 ← 0 to n - 1 do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jobs.add((profit[i], deadline[i]))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combines each job’s profit and deadline into one list.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jobs in descending order by profit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← array of size n initialized with 0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empty time slots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job in jobs do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This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each job one by one, starting from the most profitable job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latestSlot ← min(n, job.deadline) - 1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finds the latest possible slot where the job can be placed.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j ← latestSlot down to 0 do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backward from the latest possible slot.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if slot[j] = 0 then 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This checks whether the slot is emoty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slot[j] ← 1 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If the slot is empty, we schedule the job there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countJobs ← countJobs + 1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totalProfit ← totalProfit + job.profit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break </a:t>
            </a:r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the job is scheduled, we stop searching for another slot for that job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end if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 for 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countJobs, totalProfit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40FA2AA-3541-180D-ACF4-E9DC120F0361}"/>
              </a:ext>
            </a:extLst>
          </p:cNvPr>
          <p:cNvSpPr/>
          <p:nvPr/>
        </p:nvSpPr>
        <p:spPr>
          <a:xfrm>
            <a:off x="4525554" y="2108926"/>
            <a:ext cx="304800" cy="679994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E41EFC0-C91D-1267-AF4D-0BCD3E988A19}"/>
              </a:ext>
            </a:extLst>
          </p:cNvPr>
          <p:cNvSpPr/>
          <p:nvPr/>
        </p:nvSpPr>
        <p:spPr>
          <a:xfrm>
            <a:off x="2184399" y="1365976"/>
            <a:ext cx="304800" cy="455204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14A75-BD8B-C70A-CA68-BC394F6B47EE}"/>
              </a:ext>
            </a:extLst>
          </p:cNvPr>
          <p:cNvSpPr txBox="1"/>
          <p:nvPr/>
        </p:nvSpPr>
        <p:spPr>
          <a:xfrm>
            <a:off x="2489199" y="1439689"/>
            <a:ext cx="5511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beginning, no jobs have been scheduled yet.</a:t>
            </a:r>
            <a:endParaRPr lang="LID4096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D626CBAB-876E-EA94-0383-C42DECB759CE}"/>
              </a:ext>
            </a:extLst>
          </p:cNvPr>
          <p:cNvSpPr/>
          <p:nvPr/>
        </p:nvSpPr>
        <p:spPr>
          <a:xfrm>
            <a:off x="5791200" y="4533991"/>
            <a:ext cx="304800" cy="472349"/>
          </a:xfrm>
          <a:prstGeom prst="rightBrace">
            <a:avLst>
              <a:gd name="adj1" fmla="val 0"/>
              <a:gd name="adj2" fmla="val 50000"/>
            </a:avLst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44D374-3BA2-03CD-D0C7-3D4DF36E2499}"/>
              </a:ext>
            </a:extLst>
          </p:cNvPr>
          <p:cNvSpPr txBox="1"/>
          <p:nvPr/>
        </p:nvSpPr>
        <p:spPr>
          <a:xfrm>
            <a:off x="6096000" y="4600888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 </a:t>
            </a:r>
            <a:r>
              <a:rPr lang="en-US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increase the number of scheduled jobs and add the job’s profit</a:t>
            </a:r>
            <a:endParaRPr lang="LID4096" sz="1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824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99EEB-3829-8A1D-C47E-5D33143E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6ABB-6806-D815-8268-E8BF8A93A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885826"/>
            <a:ext cx="3581400" cy="2543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Jobs</a:t>
            </a:r>
            <a:endParaRPr lang="LID4096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2D7BA7-8693-2954-C7D9-F66347D5F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863899"/>
              </p:ext>
            </p:extLst>
          </p:nvPr>
        </p:nvGraphicFramePr>
        <p:xfrm>
          <a:off x="876300" y="1325880"/>
          <a:ext cx="349567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225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1165225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605E57-4F90-EA54-09B5-1AAD204142B2}"/>
              </a:ext>
            </a:extLst>
          </p:cNvPr>
          <p:cNvSpPr txBox="1">
            <a:spLocks/>
          </p:cNvSpPr>
          <p:nvPr/>
        </p:nvSpPr>
        <p:spPr>
          <a:xfrm>
            <a:off x="5800725" y="885826"/>
            <a:ext cx="3581400" cy="2543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#1: Sort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B5B02C-DB37-9E0E-8A61-0BC119B24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181850"/>
              </p:ext>
            </p:extLst>
          </p:nvPr>
        </p:nvGraphicFramePr>
        <p:xfrm>
          <a:off x="5886448" y="1325880"/>
          <a:ext cx="349567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19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23DD29A8-4F62-F77B-5627-F0C01ABA4DE2}"/>
              </a:ext>
            </a:extLst>
          </p:cNvPr>
          <p:cNvSpPr/>
          <p:nvPr/>
        </p:nvSpPr>
        <p:spPr>
          <a:xfrm>
            <a:off x="4716235" y="2078082"/>
            <a:ext cx="740229" cy="59871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FAD87E-34F2-9F01-808B-FDE6D42EBFFA}"/>
              </a:ext>
            </a:extLst>
          </p:cNvPr>
          <p:cNvSpPr txBox="1">
            <a:spLocks/>
          </p:cNvSpPr>
          <p:nvPr/>
        </p:nvSpPr>
        <p:spPr>
          <a:xfrm>
            <a:off x="876300" y="3965577"/>
            <a:ext cx="8505824" cy="2543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#2: Create Empty Slots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5 jobs in total, so initially: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               Slot #2	  Slot #3                Slot #4	    Slot #5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69D783-3E82-BF98-D56C-E14D99435B3C}"/>
              </a:ext>
            </a:extLst>
          </p:cNvPr>
          <p:cNvGrpSpPr/>
          <p:nvPr/>
        </p:nvGrpSpPr>
        <p:grpSpPr>
          <a:xfrm>
            <a:off x="968722" y="5487125"/>
            <a:ext cx="7013034" cy="402773"/>
            <a:chOff x="952163" y="5139688"/>
            <a:chExt cx="5756500" cy="4027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F63D30-716A-7DFB-8577-58EBF4D54805}"/>
                </a:ext>
              </a:extLst>
            </p:cNvPr>
            <p:cNvSpPr/>
            <p:nvPr/>
          </p:nvSpPr>
          <p:spPr>
            <a:xfrm>
              <a:off x="952163" y="5139690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4B1745-0A97-937A-8C7F-9F7660FDD484}"/>
                </a:ext>
              </a:extLst>
            </p:cNvPr>
            <p:cNvSpPr/>
            <p:nvPr/>
          </p:nvSpPr>
          <p:spPr>
            <a:xfrm>
              <a:off x="2116934" y="5139690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1E1200-F3CE-0CC9-34CA-F02BB1399186}"/>
                </a:ext>
              </a:extLst>
            </p:cNvPr>
            <p:cNvSpPr/>
            <p:nvPr/>
          </p:nvSpPr>
          <p:spPr>
            <a:xfrm>
              <a:off x="3281705" y="5139689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CA67F20-F16D-71BF-C2A9-38D555B2EFD5}"/>
                </a:ext>
              </a:extLst>
            </p:cNvPr>
            <p:cNvSpPr/>
            <p:nvPr/>
          </p:nvSpPr>
          <p:spPr>
            <a:xfrm>
              <a:off x="4446476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619F6C-B8D1-AE07-D21E-800834FB8DA3}"/>
                </a:ext>
              </a:extLst>
            </p:cNvPr>
            <p:cNvSpPr/>
            <p:nvPr/>
          </p:nvSpPr>
          <p:spPr>
            <a:xfrm>
              <a:off x="5641863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3FFC126-0AEB-5B45-8E25-7207160368C8}"/>
              </a:ext>
            </a:extLst>
          </p:cNvPr>
          <p:cNvSpPr/>
          <p:nvPr/>
        </p:nvSpPr>
        <p:spPr>
          <a:xfrm rot="5400000">
            <a:off x="6001508" y="3939811"/>
            <a:ext cx="740229" cy="59871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CCB00B0-E897-F0C6-19B3-14B93BD11AD7}"/>
              </a:ext>
            </a:extLst>
          </p:cNvPr>
          <p:cNvSpPr txBox="1">
            <a:spLocks/>
          </p:cNvSpPr>
          <p:nvPr/>
        </p:nvSpPr>
        <p:spPr>
          <a:xfrm>
            <a:off x="8507130" y="4751310"/>
            <a:ext cx="1909175" cy="1149755"/>
          </a:xfrm>
          <a:prstGeom prst="rect">
            <a:avLst/>
          </a:prstGeom>
          <a:solidFill>
            <a:srgbClr val="FFFF00"/>
          </a:solidFill>
          <a:ln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66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D5CC-38A1-4E49-BE50-3CAD8D556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93657-1ACF-E093-9AA9-BD2BEB83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465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5E6C-BCDB-3F7C-BC5B-7B6D73493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63" y="1083254"/>
            <a:ext cx="4614909" cy="2543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J1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latest slot before deadline 2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#2</a:t>
            </a:r>
            <a:endParaRPr lang="LID4096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4EB5A4-1B22-1F48-B51B-C60FEE094314}"/>
              </a:ext>
            </a:extLst>
          </p:cNvPr>
          <p:cNvSpPr txBox="1">
            <a:spLocks/>
          </p:cNvSpPr>
          <p:nvPr/>
        </p:nvSpPr>
        <p:spPr>
          <a:xfrm>
            <a:off x="7296120" y="1116535"/>
            <a:ext cx="3616413" cy="258983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462B47-E592-86DE-D463-692AB835F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234358"/>
              </p:ext>
            </p:extLst>
          </p:nvPr>
        </p:nvGraphicFramePr>
        <p:xfrm>
          <a:off x="7372319" y="1556589"/>
          <a:ext cx="349567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19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F903C818-2E15-0121-7026-B180699F16E2}"/>
              </a:ext>
            </a:extLst>
          </p:cNvPr>
          <p:cNvGrpSpPr/>
          <p:nvPr/>
        </p:nvGrpSpPr>
        <p:grpSpPr>
          <a:xfrm>
            <a:off x="838200" y="4629478"/>
            <a:ext cx="8505824" cy="2543174"/>
            <a:chOff x="872158" y="3863723"/>
            <a:chExt cx="8505824" cy="254317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116466C8-815A-D290-AABC-DFB889DBF119}"/>
                </a:ext>
              </a:extLst>
            </p:cNvPr>
            <p:cNvSpPr txBox="1">
              <a:spLocks/>
            </p:cNvSpPr>
            <p:nvPr/>
          </p:nvSpPr>
          <p:spPr>
            <a:xfrm>
              <a:off x="872158" y="3863723"/>
              <a:ext cx="8505824" cy="254317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#2 is empty, so place J1 there.</a:t>
              </a:r>
              <a:endPara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       Slot #2	  Slot #3                Slot #4	    Slot #5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7A87ED8-2287-BA67-F7D2-04F3808560CB}"/>
                </a:ext>
              </a:extLst>
            </p:cNvPr>
            <p:cNvGrpSpPr/>
            <p:nvPr/>
          </p:nvGrpSpPr>
          <p:grpSpPr>
            <a:xfrm>
              <a:off x="968722" y="5001076"/>
              <a:ext cx="7013034" cy="402773"/>
              <a:chOff x="952163" y="5139688"/>
              <a:chExt cx="5756500" cy="40277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C204A1A-2CF2-2652-64D3-3C03B55824F5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82C59D7-C3C7-0101-6E2F-61B306E051D6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J1</a:t>
                </a:r>
                <a:endParaRPr lang="LID4096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339B839-80D4-78AD-B299-BE4C80E0F1AE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1C65CB8-7288-5E4D-4F4A-2AA8FED53F49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13CC73-A617-053C-F67F-B9AE6347AADB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7233A3-86CF-EA5A-97F4-42BBB856C563}"/>
              </a:ext>
            </a:extLst>
          </p:cNvPr>
          <p:cNvGrpSpPr/>
          <p:nvPr/>
        </p:nvGrpSpPr>
        <p:grpSpPr>
          <a:xfrm>
            <a:off x="1735638" y="221612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B8B6FCC-4EB5-9ECD-1F98-E847CF8FF820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254E92-0D94-7300-B02A-93C79FE3A99F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2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100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0E3CB2-5A66-1BB7-A667-AAB34F8A3EE8}"/>
              </a:ext>
            </a:extLst>
          </p:cNvPr>
          <p:cNvSpPr txBox="1">
            <a:spLocks/>
          </p:cNvSpPr>
          <p:nvPr/>
        </p:nvSpPr>
        <p:spPr>
          <a:xfrm>
            <a:off x="9003358" y="5019847"/>
            <a:ext cx="1909175" cy="1149755"/>
          </a:xfrm>
          <a:prstGeom prst="rect">
            <a:avLst/>
          </a:prstGeom>
          <a:solidFill>
            <a:srgbClr val="FFFF00"/>
          </a:solidFill>
          <a:ln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100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54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6525-0BF8-0D04-FC48-73C0214B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B606-9A81-6E2D-A315-ED06F08E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6F1D-54B9-447D-781C-9EE876F88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44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J3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slot 2 first.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2 is already occupied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try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place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there.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1E1964-CF13-9C18-D463-9017DB4C0597}"/>
              </a:ext>
            </a:extLst>
          </p:cNvPr>
          <p:cNvSpPr txBox="1">
            <a:spLocks/>
          </p:cNvSpPr>
          <p:nvPr/>
        </p:nvSpPr>
        <p:spPr>
          <a:xfrm>
            <a:off x="7296120" y="1025888"/>
            <a:ext cx="3616413" cy="254317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B26650-3523-265C-974C-329CE79A1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063062"/>
              </p:ext>
            </p:extLst>
          </p:nvPr>
        </p:nvGraphicFramePr>
        <p:xfrm>
          <a:off x="7354576" y="1358871"/>
          <a:ext cx="349567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19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1002FDF8-BE45-70E1-ED5F-C6B81D441103}"/>
              </a:ext>
            </a:extLst>
          </p:cNvPr>
          <p:cNvGrpSpPr/>
          <p:nvPr/>
        </p:nvGrpSpPr>
        <p:grpSpPr>
          <a:xfrm>
            <a:off x="876300" y="4193230"/>
            <a:ext cx="8505824" cy="1787364"/>
            <a:chOff x="838200" y="4629478"/>
            <a:chExt cx="8505824" cy="178736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13B818A7-7FC5-7EB8-9AC1-DFBDAC45628B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78736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       Slot #2	  Slot #3                Slot #4	    Slot #5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43D3016-7D02-418E-9438-5FB180E19D81}"/>
                </a:ext>
              </a:extLst>
            </p:cNvPr>
            <p:cNvGrpSpPr/>
            <p:nvPr/>
          </p:nvGrpSpPr>
          <p:grpSpPr>
            <a:xfrm>
              <a:off x="934764" y="5766831"/>
              <a:ext cx="7013034" cy="402773"/>
              <a:chOff x="952163" y="5139688"/>
              <a:chExt cx="5756500" cy="40277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FE8A864-0194-8805-02F6-B91151E4AB70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J3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1FA7785-A782-D7F7-FC2A-B52764BADF66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J1</a:t>
                </a:r>
                <a:endParaRPr lang="LID4096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B3F0386-EF53-77C4-476C-2EDB261F8E15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1323CB4-7CB4-4D7A-DBE4-44E8675BDC5A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8EC8FAB-0D8D-C6F9-7DBA-BE90DBD6CF6C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644B89-3E72-F983-0067-31B77AD317B1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CC56D4-427E-970A-AFB4-010B1614A2FF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EE709E-B83A-6848-F0CE-EE0329DC6DC4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2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27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A2AC4D5-EF00-1EA9-1061-BD52EE802C2B}"/>
              </a:ext>
            </a:extLst>
          </p:cNvPr>
          <p:cNvSpPr txBox="1">
            <a:spLocks/>
          </p:cNvSpPr>
          <p:nvPr/>
        </p:nvSpPr>
        <p:spPr>
          <a:xfrm>
            <a:off x="9011324" y="4583599"/>
            <a:ext cx="1909175" cy="1149755"/>
          </a:xfrm>
          <a:prstGeom prst="rect">
            <a:avLst/>
          </a:prstGeom>
          <a:solidFill>
            <a:srgbClr val="FFFF00"/>
          </a:solidFill>
          <a:ln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6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F81C-51EA-A19E-2764-502F9364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FBFC6-58AC-901B-C1F0-FFB57C6D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EC74-18CF-A848-CCCC-F08F976C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44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J4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only go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already occupied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J4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scheduled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skip it.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55375-829A-9C4C-AA33-E1C1555E4258}"/>
              </a:ext>
            </a:extLst>
          </p:cNvPr>
          <p:cNvSpPr txBox="1">
            <a:spLocks/>
          </p:cNvSpPr>
          <p:nvPr/>
        </p:nvSpPr>
        <p:spPr>
          <a:xfrm>
            <a:off x="7296120" y="1025888"/>
            <a:ext cx="3616413" cy="254317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CFF514-AA7C-B574-DC89-DF507478E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26540"/>
              </p:ext>
            </p:extLst>
          </p:nvPr>
        </p:nvGraphicFramePr>
        <p:xfrm>
          <a:off x="7354576" y="1358871"/>
          <a:ext cx="349567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19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6F606A-83B4-C2A3-8B6E-DC5067820086}"/>
              </a:ext>
            </a:extLst>
          </p:cNvPr>
          <p:cNvSpPr txBox="1">
            <a:spLocks/>
          </p:cNvSpPr>
          <p:nvPr/>
        </p:nvSpPr>
        <p:spPr>
          <a:xfrm>
            <a:off x="838200" y="4629478"/>
            <a:ext cx="8505824" cy="120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               Slot #2	  Slot #3                Slot #4	    Slot #5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AEABD4B-D588-6F15-953B-0FEF5CA21767}"/>
              </a:ext>
            </a:extLst>
          </p:cNvPr>
          <p:cNvGrpSpPr/>
          <p:nvPr/>
        </p:nvGrpSpPr>
        <p:grpSpPr>
          <a:xfrm>
            <a:off x="881440" y="5297742"/>
            <a:ext cx="7013034" cy="402773"/>
            <a:chOff x="952163" y="5139688"/>
            <a:chExt cx="5756500" cy="4027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743E88-5228-2D23-6052-3DF8ABC2C730}"/>
                </a:ext>
              </a:extLst>
            </p:cNvPr>
            <p:cNvSpPr/>
            <p:nvPr/>
          </p:nvSpPr>
          <p:spPr>
            <a:xfrm>
              <a:off x="952163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  <a:endParaRPr lang="LID4096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19FF75-F590-6734-873C-BC7220B24041}"/>
                </a:ext>
              </a:extLst>
            </p:cNvPr>
            <p:cNvSpPr/>
            <p:nvPr/>
          </p:nvSpPr>
          <p:spPr>
            <a:xfrm>
              <a:off x="2116934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LID409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FCEA03-B917-422C-D0B0-75F257745D03}"/>
                </a:ext>
              </a:extLst>
            </p:cNvPr>
            <p:cNvSpPr/>
            <p:nvPr/>
          </p:nvSpPr>
          <p:spPr>
            <a:xfrm>
              <a:off x="3281705" y="5139689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FF9C54-720E-15CD-6449-A4E3F593641B}"/>
                </a:ext>
              </a:extLst>
            </p:cNvPr>
            <p:cNvSpPr/>
            <p:nvPr/>
          </p:nvSpPr>
          <p:spPr>
            <a:xfrm>
              <a:off x="4446476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A68A92-76E0-9B2D-913B-687369EB8CB1}"/>
                </a:ext>
              </a:extLst>
            </p:cNvPr>
            <p:cNvSpPr/>
            <p:nvPr/>
          </p:nvSpPr>
          <p:spPr>
            <a:xfrm>
              <a:off x="5641863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26326A-EA12-04FA-B9D3-CAA4E02F7AC4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3EC53E-77FF-92AC-7CA2-5988720D28BF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E0DBE6-488C-5D1F-CE8E-12CF64DD62AE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1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25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9A084A7-24B9-C861-8056-088010E5DDFB}"/>
              </a:ext>
            </a:extLst>
          </p:cNvPr>
          <p:cNvSpPr txBox="1">
            <a:spLocks/>
          </p:cNvSpPr>
          <p:nvPr/>
        </p:nvSpPr>
        <p:spPr>
          <a:xfrm>
            <a:off x="9003358" y="4550758"/>
            <a:ext cx="1909175" cy="1149755"/>
          </a:xfrm>
          <a:prstGeom prst="rect">
            <a:avLst/>
          </a:prstGeom>
          <a:solidFill>
            <a:srgbClr val="FFFF00"/>
          </a:solidFill>
          <a:ln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23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DF47-767E-6FFB-0C3F-B3949C60D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F860-70C9-DF8B-3335-6578A283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9DAA-7896-BCF8-D2AF-20E522F9D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44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J2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only go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already occupied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J3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scheduled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skip it.</a:t>
            </a: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16D11C-BE3F-6207-160B-203246C2569F}"/>
              </a:ext>
            </a:extLst>
          </p:cNvPr>
          <p:cNvSpPr txBox="1">
            <a:spLocks/>
          </p:cNvSpPr>
          <p:nvPr/>
        </p:nvSpPr>
        <p:spPr>
          <a:xfrm>
            <a:off x="7296120" y="1025888"/>
            <a:ext cx="3616413" cy="254317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52D23C-0387-7D57-4769-9A742573B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707991"/>
              </p:ext>
            </p:extLst>
          </p:nvPr>
        </p:nvGraphicFramePr>
        <p:xfrm>
          <a:off x="7354576" y="1358871"/>
          <a:ext cx="349567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19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C0BC88-2377-5394-33A5-8FC660961DB3}"/>
              </a:ext>
            </a:extLst>
          </p:cNvPr>
          <p:cNvSpPr txBox="1">
            <a:spLocks/>
          </p:cNvSpPr>
          <p:nvPr/>
        </p:nvSpPr>
        <p:spPr>
          <a:xfrm>
            <a:off x="838200" y="4629478"/>
            <a:ext cx="8505824" cy="1202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                Slot #2	  Slot #3                Slot #4	    Slot #5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C405C6-28F3-D60C-EE2D-491385A78D20}"/>
              </a:ext>
            </a:extLst>
          </p:cNvPr>
          <p:cNvGrpSpPr/>
          <p:nvPr/>
        </p:nvGrpSpPr>
        <p:grpSpPr>
          <a:xfrm>
            <a:off x="881440" y="5297742"/>
            <a:ext cx="7013034" cy="402773"/>
            <a:chOff x="952163" y="5139688"/>
            <a:chExt cx="5756500" cy="40277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46B6A3-163D-AB67-4E33-00B2DA360366}"/>
                </a:ext>
              </a:extLst>
            </p:cNvPr>
            <p:cNvSpPr/>
            <p:nvPr/>
          </p:nvSpPr>
          <p:spPr>
            <a:xfrm>
              <a:off x="952163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J3</a:t>
              </a:r>
              <a:endParaRPr lang="LID4096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70B2261-0AC5-8B91-10EE-2F22FC9ECABF}"/>
                </a:ext>
              </a:extLst>
            </p:cNvPr>
            <p:cNvSpPr/>
            <p:nvPr/>
          </p:nvSpPr>
          <p:spPr>
            <a:xfrm>
              <a:off x="2116934" y="5139690"/>
              <a:ext cx="1066800" cy="402771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J1</a:t>
              </a:r>
              <a:endParaRPr lang="LID409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281B0EA-88C6-D8CD-91FF-C56EAEAD20C6}"/>
                </a:ext>
              </a:extLst>
            </p:cNvPr>
            <p:cNvSpPr/>
            <p:nvPr/>
          </p:nvSpPr>
          <p:spPr>
            <a:xfrm>
              <a:off x="3281705" y="5139689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E0E25A-DD5B-17C3-E548-CC706DEF5106}"/>
                </a:ext>
              </a:extLst>
            </p:cNvPr>
            <p:cNvSpPr/>
            <p:nvPr/>
          </p:nvSpPr>
          <p:spPr>
            <a:xfrm>
              <a:off x="4446476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06BC6E-67AF-6133-C4CB-48A607C20042}"/>
                </a:ext>
              </a:extLst>
            </p:cNvPr>
            <p:cNvSpPr/>
            <p:nvPr/>
          </p:nvSpPr>
          <p:spPr>
            <a:xfrm>
              <a:off x="5641863" y="5139688"/>
              <a:ext cx="1066800" cy="4027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Empty</a:t>
              </a:r>
              <a:endParaRPr lang="LID4096" sz="1600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724300-D143-588B-17B7-FB8A8FE67952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3C6030-71C1-4BB9-5970-2656F90A4687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0FCC81-E44B-CF6F-BC81-B319F4603CD2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1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19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5A65EF3-2BD4-FC15-6287-AD1B1ED0B06A}"/>
              </a:ext>
            </a:extLst>
          </p:cNvPr>
          <p:cNvSpPr txBox="1">
            <a:spLocks/>
          </p:cNvSpPr>
          <p:nvPr/>
        </p:nvSpPr>
        <p:spPr>
          <a:xfrm>
            <a:off x="9003358" y="4550758"/>
            <a:ext cx="1909175" cy="1149755"/>
          </a:xfrm>
          <a:prstGeom prst="rect">
            <a:avLst/>
          </a:prstGeom>
          <a:solidFill>
            <a:srgbClr val="FFFF00"/>
          </a:solidFill>
          <a:ln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127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55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D7351-4335-C713-BB3E-E3052498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3F53-65FD-21CA-33F5-F0C98DD7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#1 (Cont.)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F9088-3E0A-F335-DE3B-E9647BEF4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8"/>
            <a:ext cx="5782722" cy="3032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#3: Schedule Jobs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J5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#3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#3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empty, so place J5 there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FFEEB2-B80D-3A24-C52D-9412D43F6B2D}"/>
              </a:ext>
            </a:extLst>
          </p:cNvPr>
          <p:cNvSpPr txBox="1">
            <a:spLocks/>
          </p:cNvSpPr>
          <p:nvPr/>
        </p:nvSpPr>
        <p:spPr>
          <a:xfrm>
            <a:off x="7296120" y="1025888"/>
            <a:ext cx="3616413" cy="254317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Jobs by Profit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LID4096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F849A5-E6D8-9611-323B-2299A8101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0262"/>
              </p:ext>
            </p:extLst>
          </p:nvPr>
        </p:nvGraphicFramePr>
        <p:xfrm>
          <a:off x="7354576" y="1358871"/>
          <a:ext cx="349567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919">
                  <a:extLst>
                    <a:ext uri="{9D8B030D-6E8A-4147-A177-3AD203B41FA5}">
                      <a16:colId xmlns:a16="http://schemas.microsoft.com/office/drawing/2014/main" val="741510827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1294871862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094452854"/>
                    </a:ext>
                  </a:extLst>
                </a:gridCol>
                <a:gridCol w="873919">
                  <a:extLst>
                    <a:ext uri="{9D8B030D-6E8A-4147-A177-3AD203B41FA5}">
                      <a16:colId xmlns:a16="http://schemas.microsoft.com/office/drawing/2014/main" val="243006229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Deadline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0326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9304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3115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J4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</a:t>
                      </a:r>
                      <a:endParaRPr lang="LID4096" sz="1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3557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E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89432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LID4096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09505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377D134-F06E-8003-4DE2-E1CF899A605E}"/>
              </a:ext>
            </a:extLst>
          </p:cNvPr>
          <p:cNvGrpSpPr/>
          <p:nvPr/>
        </p:nvGrpSpPr>
        <p:grpSpPr>
          <a:xfrm>
            <a:off x="881440" y="4391272"/>
            <a:ext cx="8505824" cy="1202634"/>
            <a:chOff x="838200" y="4629478"/>
            <a:chExt cx="8505824" cy="1202634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54FC4251-A635-F6C3-19DA-A6B15A47632D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202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       Slot #2	  Slot #3                Slot #4	    Slot #5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B977B18-8558-079E-04B3-F03F720253CE}"/>
                </a:ext>
              </a:extLst>
            </p:cNvPr>
            <p:cNvGrpSpPr/>
            <p:nvPr/>
          </p:nvGrpSpPr>
          <p:grpSpPr>
            <a:xfrm>
              <a:off x="881440" y="5297742"/>
              <a:ext cx="7013034" cy="402773"/>
              <a:chOff x="952163" y="5139688"/>
              <a:chExt cx="5756500" cy="402773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705C2D1-5F02-1E4C-6C6A-0A517A68A2DF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J3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18B060C-5BBD-E804-008C-A549AD1D367D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J1</a:t>
                </a:r>
                <a:endParaRPr lang="LID4096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2C5DCE-2808-1548-F254-02FE8749F30D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J5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76577-0E72-D7DB-A4C2-5182F0DFE3EE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DD74440-867A-9EC0-6905-D5AB553CEB68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E48C77-FCFD-30F5-B942-BAE19D21A6D9}"/>
              </a:ext>
            </a:extLst>
          </p:cNvPr>
          <p:cNvGrpSpPr/>
          <p:nvPr/>
        </p:nvGrpSpPr>
        <p:grpSpPr>
          <a:xfrm>
            <a:off x="1711457" y="2078417"/>
            <a:ext cx="1941987" cy="666069"/>
            <a:chOff x="6096000" y="2111829"/>
            <a:chExt cx="1941987" cy="66606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63FFC6-CE20-E2AF-9AE1-8178D4912E06}"/>
                </a:ext>
              </a:extLst>
            </p:cNvPr>
            <p:cNvSpPr/>
            <p:nvPr/>
          </p:nvSpPr>
          <p:spPr>
            <a:xfrm>
              <a:off x="6096000" y="2111829"/>
              <a:ext cx="76200" cy="664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01284EE-22F8-CEE9-46DA-771FAABA322F}"/>
                </a:ext>
              </a:extLst>
            </p:cNvPr>
            <p:cNvSpPr/>
            <p:nvPr/>
          </p:nvSpPr>
          <p:spPr>
            <a:xfrm>
              <a:off x="6172200" y="2113870"/>
              <a:ext cx="1865787" cy="6640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deadline = 3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= 15</a:t>
              </a: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9C29DAC-B570-1A93-AD6B-D5CF37C7B46E}"/>
              </a:ext>
            </a:extLst>
          </p:cNvPr>
          <p:cNvSpPr txBox="1">
            <a:spLocks/>
          </p:cNvSpPr>
          <p:nvPr/>
        </p:nvSpPr>
        <p:spPr>
          <a:xfrm>
            <a:off x="9003358" y="4312552"/>
            <a:ext cx="1909175" cy="1149755"/>
          </a:xfrm>
          <a:prstGeom prst="rect">
            <a:avLst/>
          </a:prstGeom>
          <a:solidFill>
            <a:srgbClr val="FFFF00"/>
          </a:solidFill>
          <a:ln>
            <a:solidFill>
              <a:srgbClr val="EE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results: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countJobs = 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totalProfit = 142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9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5799-3D59-D911-196C-3A0E5DE6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C6BA-F43F-B5A9-5EB4-8A1409F1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68602"/>
            <a:ext cx="8582024" cy="5207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the Latest Available Slot?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F95E-22F6-0997-E370-CC25126CD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440" y="1025887"/>
            <a:ext cx="10429120" cy="385783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place each job as late as possible because it keeps earlier slots free for jobs with smaller deadlines.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A deadline = 3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B deadline = 1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Job A is placed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B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have space later.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if Job A is placed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 #3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Slot 1 remains free for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B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using the latest slot helps us schedule more jobs.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FC2AC-E86A-C683-3EAC-E2E384F61789}"/>
              </a:ext>
            </a:extLst>
          </p:cNvPr>
          <p:cNvGrpSpPr/>
          <p:nvPr/>
        </p:nvGrpSpPr>
        <p:grpSpPr>
          <a:xfrm>
            <a:off x="881440" y="4678046"/>
            <a:ext cx="6740034" cy="1549704"/>
            <a:chOff x="838200" y="4629478"/>
            <a:chExt cx="8505824" cy="1202634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2A92DD4D-2AA8-166E-B602-7C2D1CCF8F92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202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Slot #2	       Slot #3           Slot #4           Slot #5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35F8EDD-DFE0-8382-6985-C74BA7E94490}"/>
                </a:ext>
              </a:extLst>
            </p:cNvPr>
            <p:cNvGrpSpPr/>
            <p:nvPr/>
          </p:nvGrpSpPr>
          <p:grpSpPr>
            <a:xfrm>
              <a:off x="881440" y="5297742"/>
              <a:ext cx="7013034" cy="402773"/>
              <a:chOff x="952163" y="5139688"/>
              <a:chExt cx="5756500" cy="402773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6AB855-D54E-8596-16BB-CEA80C5ECD9C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 A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E082178-7C43-7FD0-39DB-9F6E8BC8007B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BA12329-48B0-528F-763C-23E1B13A84BA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0E4C9-8C50-DA58-18FC-500FABA06176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3CC191F-0D41-8548-5B77-58F7CEE11025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402AEE-BC2B-879C-970C-4A2110593A84}"/>
              </a:ext>
            </a:extLst>
          </p:cNvPr>
          <p:cNvGrpSpPr/>
          <p:nvPr/>
        </p:nvGrpSpPr>
        <p:grpSpPr>
          <a:xfrm>
            <a:off x="5148005" y="1405102"/>
            <a:ext cx="6740034" cy="1549704"/>
            <a:chOff x="838200" y="4629478"/>
            <a:chExt cx="8505824" cy="1202634"/>
          </a:xfrm>
        </p:grpSpPr>
        <p:sp>
          <p:nvSpPr>
            <p:cNvPr id="29" name="Content Placeholder 2">
              <a:extLst>
                <a:ext uri="{FF2B5EF4-FFF2-40B4-BE49-F238E27FC236}">
                  <a16:creationId xmlns:a16="http://schemas.microsoft.com/office/drawing/2014/main" id="{CE63486F-7D40-E5E3-D95F-D64488A76E80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629478"/>
              <a:ext cx="8505824" cy="1202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Font typeface="Arial" panose="020B0604020202020204" pitchFamily="34" charset="0"/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Slot #1         Slot #2	       Slot #3           Slot #4           Slot #5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972E863-E48A-097F-834F-8BA33CBB1537}"/>
                </a:ext>
              </a:extLst>
            </p:cNvPr>
            <p:cNvGrpSpPr/>
            <p:nvPr/>
          </p:nvGrpSpPr>
          <p:grpSpPr>
            <a:xfrm>
              <a:off x="881440" y="5297742"/>
              <a:ext cx="7013034" cy="402773"/>
              <a:chOff x="952163" y="5139688"/>
              <a:chExt cx="5756500" cy="402773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A98555E-280A-0E6B-2A60-BC955F386312}"/>
                  </a:ext>
                </a:extLst>
              </p:cNvPr>
              <p:cNvSpPr/>
              <p:nvPr/>
            </p:nvSpPr>
            <p:spPr>
              <a:xfrm>
                <a:off x="952163" y="5139690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 B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528CD5B-7BB8-8B5D-91C6-9FE815CAFDB8}"/>
                  </a:ext>
                </a:extLst>
              </p:cNvPr>
              <p:cNvSpPr/>
              <p:nvPr/>
            </p:nvSpPr>
            <p:spPr>
              <a:xfrm>
                <a:off x="2116934" y="5139690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9EA93C4-39DE-BEA9-BE8C-ECB57056DD6E}"/>
                  </a:ext>
                </a:extLst>
              </p:cNvPr>
              <p:cNvSpPr/>
              <p:nvPr/>
            </p:nvSpPr>
            <p:spPr>
              <a:xfrm>
                <a:off x="3281705" y="5139689"/>
                <a:ext cx="1066800" cy="402771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Job A</a:t>
                </a:r>
                <a:endParaRPr lang="LID4096" sz="16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49FDD89-F17A-8A4C-4E2C-05385BFF42A4}"/>
                  </a:ext>
                </a:extLst>
              </p:cNvPr>
              <p:cNvSpPr/>
              <p:nvPr/>
            </p:nvSpPr>
            <p:spPr>
              <a:xfrm>
                <a:off x="4446476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984BE6C-584C-5795-E799-3D976A15A945}"/>
                  </a:ext>
                </a:extLst>
              </p:cNvPr>
              <p:cNvSpPr/>
              <p:nvPr/>
            </p:nvSpPr>
            <p:spPr>
              <a:xfrm>
                <a:off x="5641863" y="5139688"/>
                <a:ext cx="1066800" cy="4027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rgbClr val="EE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Empty</a:t>
                </a:r>
                <a:endParaRPr lang="LID4096" sz="1600" dirty="0">
                  <a:solidFill>
                    <a:srgbClr val="EE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pic>
        <p:nvPicPr>
          <p:cNvPr id="37" name="Graphic 36" descr="Checkmark with solid fill">
            <a:extLst>
              <a:ext uri="{FF2B5EF4-FFF2-40B4-BE49-F238E27FC236}">
                <a16:creationId xmlns:a16="http://schemas.microsoft.com/office/drawing/2014/main" id="{08D8C896-AD49-C98A-D8CA-EE26160B9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04435" y="1999575"/>
            <a:ext cx="914400" cy="914400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33674789-D844-9A73-470B-B4E4DD585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4294" y="49956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0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1723</Words>
  <Application>Microsoft Office PowerPoint</Application>
  <PresentationFormat>Widescreen</PresentationFormat>
  <Paragraphs>416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Wingdings</vt:lpstr>
      <vt:lpstr>Office Theme</vt:lpstr>
      <vt:lpstr>Job sequencing Naive algorithm</vt:lpstr>
      <vt:lpstr>Main Idea</vt:lpstr>
      <vt:lpstr>Natural Language Specification</vt:lpstr>
      <vt:lpstr>Natural Language Specification (Cont.)</vt:lpstr>
      <vt:lpstr>Pseudocode Notation</vt:lpstr>
      <vt:lpstr>Example #1</vt:lpstr>
      <vt:lpstr>Example #1 (Cont.)</vt:lpstr>
      <vt:lpstr>Example #1 (Cont.)</vt:lpstr>
      <vt:lpstr>Example #1 (Cont.)</vt:lpstr>
      <vt:lpstr>Example #1 (Cont.)</vt:lpstr>
      <vt:lpstr>Example #1 (Cont.)</vt:lpstr>
      <vt:lpstr>Why Do We Use the Latest Available Slot?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席武牧</dc:creator>
  <cp:lastModifiedBy>席武牧</cp:lastModifiedBy>
  <cp:revision>2</cp:revision>
  <dcterms:created xsi:type="dcterms:W3CDTF">2026-05-16T16:34:24Z</dcterms:created>
  <dcterms:modified xsi:type="dcterms:W3CDTF">2026-05-16T20:39:50Z</dcterms:modified>
</cp:coreProperties>
</file>